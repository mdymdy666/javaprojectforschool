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ad4604df494e07" /><Relationship Type="http://schemas.openxmlformats.org/officeDocument/2006/relationships/extended-properties" Target="/docProps/app.xml" Id="Ref9bd6f24ba04de4" /><Relationship Type="http://schemas.openxmlformats.org/officeDocument/2006/relationships/officeDocument" Target="/ppt/presentation.xml" Id="Reb6cf8de696c40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789b042c604d1f"/>
  </p:sldMasterIdLst>
  <p:notesMasterIdLst>
    <p:notesMasterId xmlns:r="http://schemas.openxmlformats.org/officeDocument/2006/relationships" r:id="R2a51141ca0814c3b"/>
  </p:notesMasterIdLst>
  <p:sldIdLst>
    <p:sldId xmlns:r="http://schemas.openxmlformats.org/officeDocument/2006/relationships" id="256" r:id="Rdbd68a156a3443b9"/>
    <p:sldId xmlns:r="http://schemas.openxmlformats.org/officeDocument/2006/relationships" id="257" r:id="Rbb143783666e4175"/>
    <p:sldId xmlns:r="http://schemas.openxmlformats.org/officeDocument/2006/relationships" id="258" r:id="Rc875563f39e84dbe"/>
    <p:sldId xmlns:r="http://schemas.openxmlformats.org/officeDocument/2006/relationships" id="259" r:id="R6ec4b209499741bf"/>
    <p:sldId xmlns:r="http://schemas.openxmlformats.org/officeDocument/2006/relationships" id="260" r:id="R96b579ec4ce34541"/>
    <p:sldId xmlns:r="http://schemas.openxmlformats.org/officeDocument/2006/relationships" id="261" r:id="Re1107fb1f9f64c9a"/>
    <p:sldId xmlns:r="http://schemas.openxmlformats.org/officeDocument/2006/relationships" id="262" r:id="R26fc4d8af89d469e"/>
    <p:sldId xmlns:r="http://schemas.openxmlformats.org/officeDocument/2006/relationships" id="263" r:id="Rd288857315b541a5"/>
    <p:sldId xmlns:r="http://schemas.openxmlformats.org/officeDocument/2006/relationships" id="264" r:id="Rab1f8f1997094988"/>
    <p:sldId xmlns:r="http://schemas.openxmlformats.org/officeDocument/2006/relationships" id="265" r:id="R763c6d7905b34c0d"/>
    <p:sldId xmlns:r="http://schemas.openxmlformats.org/officeDocument/2006/relationships" id="266" r:id="R25358cfec0d44804"/>
    <p:sldId xmlns:r="http://schemas.openxmlformats.org/officeDocument/2006/relationships" id="267" r:id="R08f6ccd9b8e24d8c"/>
    <p:sldId xmlns:r="http://schemas.openxmlformats.org/officeDocument/2006/relationships" id="268" r:id="R1c1b134066144877"/>
    <p:sldId xmlns:r="http://schemas.openxmlformats.org/officeDocument/2006/relationships" id="269" r:id="R034ccdf5beca40bf"/>
    <p:sldId xmlns:r="http://schemas.openxmlformats.org/officeDocument/2006/relationships" id="270" r:id="Raa13c331c29842e3"/>
    <p:sldId xmlns:r="http://schemas.openxmlformats.org/officeDocument/2006/relationships" id="271" r:id="R1b50c14fcab84dfc"/>
    <p:sldId xmlns:r="http://schemas.openxmlformats.org/officeDocument/2006/relationships" id="272" r:id="R16f2f4dd5d2a46f4"/>
    <p:sldId xmlns:r="http://schemas.openxmlformats.org/officeDocument/2006/relationships" id="273" r:id="R4ed0d51f41934373"/>
    <p:sldId xmlns:r="http://schemas.openxmlformats.org/officeDocument/2006/relationships" id="274" r:id="R9b4111f4501346f7"/>
    <p:sldId xmlns:r="http://schemas.openxmlformats.org/officeDocument/2006/relationships" id="275" r:id="Rcb080b40af9747a1"/>
    <p:sldId xmlns:r="http://schemas.openxmlformats.org/officeDocument/2006/relationships" id="276" r:id="Ra932b02fbf30448a"/>
    <p:sldId xmlns:r="http://schemas.openxmlformats.org/officeDocument/2006/relationships" id="277" r:id="R7a9c9a8ada6d4bc0"/>
    <p:sldId xmlns:r="http://schemas.openxmlformats.org/officeDocument/2006/relationships" id="278" r:id="R614f73c19c2740ec"/>
    <p:sldId xmlns:r="http://schemas.openxmlformats.org/officeDocument/2006/relationships" id="279" r:id="R947816d1fd6a466a"/>
    <p:sldId xmlns:r="http://schemas.openxmlformats.org/officeDocument/2006/relationships" id="280" r:id="R908fd9856ee1410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3b6ef8745c4aa8" /><Relationship Type="http://schemas.openxmlformats.org/officeDocument/2006/relationships/slideMaster" Target="/ppt/slideMasters/slideMaster1.xml" Id="R3e789b042c604d1f" /><Relationship Type="http://schemas.openxmlformats.org/officeDocument/2006/relationships/notesMaster" Target="/ppt/notesMasters/notesMaster1.xml" Id="R2a51141ca0814c3b" /><Relationship Type="http://schemas.openxmlformats.org/officeDocument/2006/relationships/presProps" Target="/ppt/presProps.xml" Id="Rd8514844568c458e" /><Relationship Type="http://schemas.openxmlformats.org/officeDocument/2006/relationships/tableStyles" Target="/ppt/tableStyles.xml" Id="R07abc0bde24845c1" /><Relationship Type="http://schemas.openxmlformats.org/officeDocument/2006/relationships/slide" Target="/ppt/slides/slide1.xml" Id="Rdbd68a156a3443b9" /><Relationship Type="http://schemas.openxmlformats.org/officeDocument/2006/relationships/slide" Target="/ppt/slides/slide2.xml" Id="Rbb143783666e4175" /><Relationship Type="http://schemas.openxmlformats.org/officeDocument/2006/relationships/slide" Target="/ppt/slides/slide3.xml" Id="Rc875563f39e84dbe" /><Relationship Type="http://schemas.openxmlformats.org/officeDocument/2006/relationships/slide" Target="/ppt/slides/slide4.xml" Id="R6ec4b209499741bf" /><Relationship Type="http://schemas.openxmlformats.org/officeDocument/2006/relationships/slide" Target="/ppt/slides/slide5.xml" Id="R96b579ec4ce34541" /><Relationship Type="http://schemas.openxmlformats.org/officeDocument/2006/relationships/slide" Target="/ppt/slides/slide6.xml" Id="Re1107fb1f9f64c9a" /><Relationship Type="http://schemas.openxmlformats.org/officeDocument/2006/relationships/slide" Target="/ppt/slides/slide7.xml" Id="R26fc4d8af89d469e" /><Relationship Type="http://schemas.openxmlformats.org/officeDocument/2006/relationships/slide" Target="/ppt/slides/slide8.xml" Id="Rd288857315b541a5" /><Relationship Type="http://schemas.openxmlformats.org/officeDocument/2006/relationships/slide" Target="/ppt/slides/slide9.xml" Id="Rab1f8f1997094988" /><Relationship Type="http://schemas.openxmlformats.org/officeDocument/2006/relationships/slide" Target="/ppt/slides/slide10.xml" Id="R763c6d7905b34c0d" /><Relationship Type="http://schemas.openxmlformats.org/officeDocument/2006/relationships/slide" Target="/ppt/slides/slide11.xml" Id="R25358cfec0d44804" /><Relationship Type="http://schemas.openxmlformats.org/officeDocument/2006/relationships/slide" Target="/ppt/slides/slide12.xml" Id="R08f6ccd9b8e24d8c" /><Relationship Type="http://schemas.openxmlformats.org/officeDocument/2006/relationships/slide" Target="/ppt/slides/slide13.xml" Id="R1c1b134066144877" /><Relationship Type="http://schemas.openxmlformats.org/officeDocument/2006/relationships/slide" Target="/ppt/slides/slide14.xml" Id="R034ccdf5beca40bf" /><Relationship Type="http://schemas.openxmlformats.org/officeDocument/2006/relationships/slide" Target="/ppt/slides/slide15.xml" Id="Raa13c331c29842e3" /><Relationship Type="http://schemas.openxmlformats.org/officeDocument/2006/relationships/slide" Target="/ppt/slides/slide16.xml" Id="R1b50c14fcab84dfc" /><Relationship Type="http://schemas.openxmlformats.org/officeDocument/2006/relationships/slide" Target="/ppt/slides/slide17.xml" Id="R16f2f4dd5d2a46f4" /><Relationship Type="http://schemas.openxmlformats.org/officeDocument/2006/relationships/slide" Target="/ppt/slides/slide18.xml" Id="R4ed0d51f41934373" /><Relationship Type="http://schemas.openxmlformats.org/officeDocument/2006/relationships/slide" Target="/ppt/slides/slide19.xml" Id="R9b4111f4501346f7" /><Relationship Type="http://schemas.openxmlformats.org/officeDocument/2006/relationships/slide" Target="/ppt/slides/slide20.xml" Id="Rcb080b40af9747a1" /><Relationship Type="http://schemas.openxmlformats.org/officeDocument/2006/relationships/slide" Target="/ppt/slides/slide21.xml" Id="Ra932b02fbf30448a" /><Relationship Type="http://schemas.openxmlformats.org/officeDocument/2006/relationships/slide" Target="/ppt/slides/slide22.xml" Id="R7a9c9a8ada6d4bc0" /><Relationship Type="http://schemas.openxmlformats.org/officeDocument/2006/relationships/slide" Target="/ppt/slides/slide23.xml" Id="R614f73c19c2740ec" /><Relationship Type="http://schemas.openxmlformats.org/officeDocument/2006/relationships/slide" Target="/ppt/slides/slide24.xml" Id="R947816d1fd6a466a" /><Relationship Type="http://schemas.openxmlformats.org/officeDocument/2006/relationships/slide" Target="/ppt/slides/slide25.xml" Id="R908fd9856ee141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eace08345b45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a3ccf90094495f" /><Relationship Type="http://schemas.openxmlformats.org/officeDocument/2006/relationships/notesMaster" Target="/ppt/notesMasters/notesMaster1.xml" Id="R29e02e5a9ed147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4784c904c04ecd" /><Relationship Type="http://schemas.openxmlformats.org/officeDocument/2006/relationships/notesMaster" Target="/ppt/notesMasters/notesMaster1.xml" Id="Rd4d83f6a199446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5fd996794b4d3e" /><Relationship Type="http://schemas.openxmlformats.org/officeDocument/2006/relationships/notesMaster" Target="/ppt/notesMasters/notesMaster1.xml" Id="R9e11dab2049641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822da238f04fd5" /><Relationship Type="http://schemas.openxmlformats.org/officeDocument/2006/relationships/notesMaster" Target="/ppt/notesMasters/notesMaster1.xml" Id="R0419db1acfb64d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bfd7fc6d524170" /><Relationship Type="http://schemas.openxmlformats.org/officeDocument/2006/relationships/notesMaster" Target="/ppt/notesMasters/notesMaster1.xml" Id="R48914dc1c80943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7ea7e4f13f44dc" /><Relationship Type="http://schemas.openxmlformats.org/officeDocument/2006/relationships/notesMaster" Target="/ppt/notesMasters/notesMaster1.xml" Id="Ra827349b209347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e6f5e1a99648a9" /><Relationship Type="http://schemas.openxmlformats.org/officeDocument/2006/relationships/notesMaster" Target="/ppt/notesMasters/notesMaster1.xml" Id="Re7e25e6e33d44b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9270e2b0a84b35" /><Relationship Type="http://schemas.openxmlformats.org/officeDocument/2006/relationships/notesMaster" Target="/ppt/notesMasters/notesMaster1.xml" Id="Rfb314d993fba49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ae722b76de41ae" /><Relationship Type="http://schemas.openxmlformats.org/officeDocument/2006/relationships/notesMaster" Target="/ppt/notesMasters/notesMaster1.xml" Id="Rdb7fd082568e40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aac69044634c8d" /><Relationship Type="http://schemas.openxmlformats.org/officeDocument/2006/relationships/notesMaster" Target="/ppt/notesMasters/notesMaster1.xml" Id="Rc56a123ccb5d428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faea4b4eac4647" /><Relationship Type="http://schemas.openxmlformats.org/officeDocument/2006/relationships/notesMaster" Target="/ppt/notesMasters/notesMaster1.xml" Id="R6098bad898c944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67acf7948e4074" /><Relationship Type="http://schemas.openxmlformats.org/officeDocument/2006/relationships/notesMaster" Target="/ppt/notesMasters/notesMaster1.xml" Id="R4fc75c0d361e4d3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376dbdb2966486a" /><Relationship Type="http://schemas.openxmlformats.org/officeDocument/2006/relationships/notesMaster" Target="/ppt/notesMasters/notesMaster1.xml" Id="R0cc33f79369a408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a7b5541fb7f46ee" /><Relationship Type="http://schemas.openxmlformats.org/officeDocument/2006/relationships/notesMaster" Target="/ppt/notesMasters/notesMaster1.xml" Id="R22cf0a0b97db479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c3c96582dd4421c" /><Relationship Type="http://schemas.openxmlformats.org/officeDocument/2006/relationships/notesMaster" Target="/ppt/notesMasters/notesMaster1.xml" Id="R1f18bb79d3cd43d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4ef532385d640bc" /><Relationship Type="http://schemas.openxmlformats.org/officeDocument/2006/relationships/notesMaster" Target="/ppt/notesMasters/notesMaster1.xml" Id="R1f8f99a7a0a547d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fa554d99ea34e5b" /><Relationship Type="http://schemas.openxmlformats.org/officeDocument/2006/relationships/notesMaster" Target="/ppt/notesMasters/notesMaster1.xml" Id="R0103e645a62f411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67f350a5fbb4a91" /><Relationship Type="http://schemas.openxmlformats.org/officeDocument/2006/relationships/notesMaster" Target="/ppt/notesMasters/notesMaster1.xml" Id="R4f5a02a8b3bc46d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7bf837d544c4ece" /><Relationship Type="http://schemas.openxmlformats.org/officeDocument/2006/relationships/notesMaster" Target="/ppt/notesMasters/notesMaster1.xml" Id="R6fb6f90c4f064bc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73d6b494c754198" /><Relationship Type="http://schemas.openxmlformats.org/officeDocument/2006/relationships/notesMaster" Target="/ppt/notesMasters/notesMaster1.xml" Id="Rf57575c6e29242c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7c8e1ffd6e44e01" /><Relationship Type="http://schemas.openxmlformats.org/officeDocument/2006/relationships/notesMaster" Target="/ppt/notesMasters/notesMaster1.xml" Id="Rf3fb48a17ab4449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784f3b725e9453a" /><Relationship Type="http://schemas.openxmlformats.org/officeDocument/2006/relationships/notesMaster" Target="/ppt/notesMasters/notesMaster1.xml" Id="R7f4d5f8bc6b14b4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697daf29ab04f83" /><Relationship Type="http://schemas.openxmlformats.org/officeDocument/2006/relationships/notesMaster" Target="/ppt/notesMasters/notesMaster1.xml" Id="R6c177a012b27448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564a0d6c12a4a54" /><Relationship Type="http://schemas.openxmlformats.org/officeDocument/2006/relationships/notesMaster" Target="/ppt/notesMasters/notesMaster1.xml" Id="R2a284d3d8e2a469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70a1de5bf844b16" /><Relationship Type="http://schemas.openxmlformats.org/officeDocument/2006/relationships/notesMaster" Target="/ppt/notesMasters/notesMaster1.xml" Id="Ra12943ab082a46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326e02495040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141ff957a74cc7" /><Relationship Type="http://schemas.openxmlformats.org/officeDocument/2006/relationships/slideLayout" Target="/ppt/slideLayouts/slideLayout1.xml" Id="R59a5be2d2cee46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a5be2d2cee46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3c82439894eeb" /><Relationship Type="http://schemas.openxmlformats.org/officeDocument/2006/relationships/image" Target="/ppt/media/image.png" Id="R9895450e29484ec3" /><Relationship Type="http://schemas.openxmlformats.org/officeDocument/2006/relationships/notesSlide" Target="/ppt/notesSlides/notesSlide1.xml" Id="Re9983d8032b644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2c18ab14442a0" /><Relationship Type="http://schemas.openxmlformats.org/officeDocument/2006/relationships/notesSlide" Target="/ppt/notesSlides/notesSlide2.xml" Id="R699bca64b40249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10dac1e684230" /><Relationship Type="http://schemas.openxmlformats.org/officeDocument/2006/relationships/notesSlide" Target="/ppt/notesSlides/notesSlide3.xml" Id="Rcd092a7b11f247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504b7a0f943aa" /><Relationship Type="http://schemas.openxmlformats.org/officeDocument/2006/relationships/notesSlide" Target="/ppt/notesSlides/notesSlide4.xml" Id="R720a947ddaf940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5127a17bf4f0f" /><Relationship Type="http://schemas.openxmlformats.org/officeDocument/2006/relationships/notesSlide" Target="/ppt/notesSlides/notesSlide5.xml" Id="R4019adb22e4a4a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8368f1bf446d9" /><Relationship Type="http://schemas.openxmlformats.org/officeDocument/2006/relationships/notesSlide" Target="/ppt/notesSlides/notesSlide6.xml" Id="R2d393c88dfb647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412d2437d4919" /><Relationship Type="http://schemas.openxmlformats.org/officeDocument/2006/relationships/notesSlide" Target="/ppt/notesSlides/notesSlide7.xml" Id="Rad0ddaf9e3a64a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2de2f8bc7413f" /><Relationship Type="http://schemas.openxmlformats.org/officeDocument/2006/relationships/notesSlide" Target="/ppt/notesSlides/notesSlide8.xml" Id="R46e5cd24c0a348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f26fc16e74104" /><Relationship Type="http://schemas.openxmlformats.org/officeDocument/2006/relationships/notesSlide" Target="/ppt/notesSlides/notesSlide9.xml" Id="Rc575e6921e0640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3ae9ffa064921" /><Relationship Type="http://schemas.openxmlformats.org/officeDocument/2006/relationships/notesSlide" Target="/ppt/notesSlides/notesSlide10.xml" Id="Racb2412e714b40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0a3bb997c4fda" /><Relationship Type="http://schemas.openxmlformats.org/officeDocument/2006/relationships/notesSlide" Target="/ppt/notesSlides/notesSlide11.xml" Id="R9e4708452d0a49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84d26200941fd" /><Relationship Type="http://schemas.openxmlformats.org/officeDocument/2006/relationships/notesSlide" Target="/ppt/notesSlides/notesSlide12.xml" Id="Rff7375c5e25e443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10804eb584586" /><Relationship Type="http://schemas.openxmlformats.org/officeDocument/2006/relationships/notesSlide" Target="/ppt/notesSlides/notesSlide13.xml" Id="R681f9a21157f464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60f9e59924eb2" /><Relationship Type="http://schemas.openxmlformats.org/officeDocument/2006/relationships/notesSlide" Target="/ppt/notesSlides/notesSlide14.xml" Id="R3ef6eaf5fa7a479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18e53b1e94f14" /><Relationship Type="http://schemas.openxmlformats.org/officeDocument/2006/relationships/notesSlide" Target="/ppt/notesSlides/notesSlide15.xml" Id="R3bf7e5db11a44b5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1d33b99244648" /><Relationship Type="http://schemas.openxmlformats.org/officeDocument/2006/relationships/notesSlide" Target="/ppt/notesSlides/notesSlide16.xml" Id="R7abd89a0c5fc40a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83d6b3a3a44ce" /><Relationship Type="http://schemas.openxmlformats.org/officeDocument/2006/relationships/notesSlide" Target="/ppt/notesSlides/notesSlide17.xml" Id="Rf963b11b289c468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69a33ab2c4f0e" /><Relationship Type="http://schemas.openxmlformats.org/officeDocument/2006/relationships/notesSlide" Target="/ppt/notesSlides/notesSlide18.xml" Id="R3e3424a3a7ee403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8e09c3bc84c85" /><Relationship Type="http://schemas.openxmlformats.org/officeDocument/2006/relationships/notesSlide" Target="/ppt/notesSlides/notesSlide19.xml" Id="R876cae899cac40b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9c098418f4aec" /><Relationship Type="http://schemas.openxmlformats.org/officeDocument/2006/relationships/notesSlide" Target="/ppt/notesSlides/notesSlide20.xml" Id="Rf2dcec74a5da44e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7899216f04b9f" /><Relationship Type="http://schemas.openxmlformats.org/officeDocument/2006/relationships/notesSlide" Target="/ppt/notesSlides/notesSlide21.xml" Id="R0949d2b6992c488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7e9fccd5c48fa" /><Relationship Type="http://schemas.openxmlformats.org/officeDocument/2006/relationships/notesSlide" Target="/ppt/notesSlides/notesSlide22.xml" Id="R2b23587a152345f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f3e65008d49d2" /><Relationship Type="http://schemas.openxmlformats.org/officeDocument/2006/relationships/notesSlide" Target="/ppt/notesSlides/notesSlide23.xml" Id="Rccfecbebe38d4dd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b2aa36d254a7f" /><Relationship Type="http://schemas.openxmlformats.org/officeDocument/2006/relationships/notesSlide" Target="/ppt/notesSlides/notesSlide24.xml" Id="Rdb7327713e5d468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130b274b74465" /><Relationship Type="http://schemas.openxmlformats.org/officeDocument/2006/relationships/notesSlide" Target="/ppt/notesSlides/notesSlide25.xml" Id="R0e45addd0e8140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07C1C6-FC94-44C3-8027-7CC378B5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软件与理论综合设计与实践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B797D4-FA17-4CD4-9242-5E9E0801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校园二手物品交易平台的设计与实现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7FDB9-DB03-4FD0-9071-DB639BB8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647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基于 Vue3 + Spring Boot + MySQL + Redis 的前后端分离 Web 应用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465DCE-88FA-44DC-9B63-D82B9CE8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8637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项目答辩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DAB79D-6797-4C96-A881-079D5C95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76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小组成员 / 指导教师 / 日期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95450e29484ec3"/>
          <a:srcRect xmlns:a="http://schemas.openxmlformats.org/drawingml/2006/main" l="37019" t="0" r="370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0" y="762000"/>
            <a:ext cx="3429000" cy="4953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B154C-03C1-4A95-9F9E-933E2745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502593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40833D-01B2-4493-912C-7D204AC8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目录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DA168-9A82-4EA9-87CF-B6E008CF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答辩围绕项目价值、实现重点和团队交付展开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93AA9-B2DA-492A-ADE5-30B2790B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1BCD2-C3B4-4920-8FB5-F2292745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0AE87-B33A-4633-915B-9623DF67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1E245-131E-4E77-97A2-9F72EA17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716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项目简介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533F18-3693-4712-8B08-2801A7CB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0982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背景、目标、架构、功能与主流程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BABB1-F491-43E9-9573-206E4F20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670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8F132-52CA-4A80-A968-7DAAF8E0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E6BF5A-4908-4E63-9A45-671D78E7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146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重要设计与实现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89B09-BA72-4E7E-B95B-016046BE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55282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数据库、权限、审核、订单、并发、设计模式、推荐算法、测试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FDA44C-97BF-422B-84CD-9CE8EF83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00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413D9-9193-479A-885B-9474306F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386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13522B-97ED-4C81-A71B-5A0CCBB3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576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总结与成员分工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64772E-ADB1-461F-92EB-021D405C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9582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项目成果、不足改进与团队职责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83A12A-56C4-420E-9FB8-873AFCF6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530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945751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813A44-F35A-4067-89A7-1F65485B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第一部分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DDEF9-AEB6-49F2-BCEB-B602752E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项目简介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3549F-19DA-4AE8-9ED1-39065658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先说明为什么做、做什么，以及系统怎样跑起来。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BAEB0-7455-41AF-9AC5-825A7832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285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1A2F74-10DB-4AA1-9375-54929C72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109429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BC7EA7-8097-4A65-8D01-FC74FEFD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项目简介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209D0-AA89-4100-990A-857B58B5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校园闲置交易需要一个更规范的线上闭环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6B9FB-8A8D-456B-9A13-969B4FA6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46CE1-38C0-4D25-AA83-D12D7EF9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F8F05-68B0-4956-AF71-BA66B307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28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E47C7-0F98-45B1-8002-A059FDF7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701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校园中存在大量闲置教材、电子产品、生活用品等可流通物品。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678DEC-56DD-4036-8344-91F19ED0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95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A92F3C-2310-4F13-83E6-B20D7655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19375"/>
            <a:ext cx="701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微信群、朋友圈等传统方式信息分散，搜索和比较成本较高。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F1786-8409-4618-B7C0-FDE8A9C0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623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48A2B6-6418-4F3F-8DD2-260A5C6E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701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线下私聊交易缺少统一流程，容易出现审核缺失、状态不清、沟通留痕不足等问题。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8295B-BF25-4190-9827-E8AB83AB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290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30A9FF-0725-4A09-9895-5A821115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52875"/>
            <a:ext cx="701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本项目面向校园 C2C 场景，构建可发布、可搜索、可下单、可管理的二手交易平台。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712B14-E3F5-4A58-94C7-06B13B09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476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7AD827-4CD2-41E0-BE24-E55DE4AD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2407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核心判断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7213C0-D4C6-45D0-A56D-48832684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05075"/>
            <a:ext cx="2057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020"/>
                </a:solidFill>
              </a:defRPr>
            </a:pPr>
            <a:r>
              <a:rPr sz="1500" b="0">
                <a:solidFill>
                  <a:srgbClr val="202020"/>
                </a:solidFill>
              </a:rPr>
              <a:t>平台价值不只是展示商品，而是把发布、审核、交易、通知、后台管理连成一条可追踪的业务链。</a:t>
            </a:r>
          </a:p>
        </p:txBody>
      </p:sp>
    </p:spTree>
    <p:extLst>
      <p:ext uri="{BB962C8B-B14F-4D97-AF65-F5344CB8AC3E}">
        <p14:creationId xmlns:p14="http://schemas.microsoft.com/office/powerpoint/2010/main" val="498333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7699C7-424A-4C48-A753-BF8D026A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项目简介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F5665-2C46-44AB-8935-D63DB6FE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项目目标覆盖用户、商品、交易和管理四条主线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296AD-8D60-4C2D-836D-D0931C9B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D2610-4B4A-4D66-AD23-502D5599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16E30-C442-4526-ABDE-745F968A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54B8DE-5CA2-4E5D-B187-288DE8E0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用户侧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31AA3-E4BB-462A-AF97-FE58DD27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9621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020"/>
                </a:solidFill>
              </a:defRPr>
            </a:pPr>
            <a:r>
              <a:rPr sz="1800" b="0">
                <a:solidFill>
                  <a:srgbClr val="202020"/>
                </a:solidFill>
              </a:rPr>
              <a:t>注册登录</a:t>
            </a:r>
          </a:p>
          <a:p xmlns:a="http://schemas.openxmlformats.org/drawingml/2006/main">
            <a:pPr algn="l">
              <a:defRPr sz="1800" b="0">
                <a:solidFill>
                  <a:srgbClr val="202020"/>
                </a:solidFill>
              </a:defRPr>
            </a:pPr>
            <a:r>
              <a:rPr sz="1800" b="0">
                <a:solidFill>
                  <a:srgbClr val="202020"/>
                </a:solidFill>
              </a:rPr>
              <a:t>个人中心</a:t>
            </a:r>
          </a:p>
          <a:p xmlns:a="http://schemas.openxmlformats.org/drawingml/2006/main">
            <a:pPr algn="l">
              <a:defRPr sz="1800" b="0">
                <a:solidFill>
                  <a:srgbClr val="202020"/>
                </a:solidFill>
              </a:defRPr>
            </a:pPr>
            <a:r>
              <a:rPr sz="1800" b="0">
                <a:solidFill>
                  <a:srgbClr val="202020"/>
                </a:solidFill>
              </a:rPr>
              <a:t>安全认证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127DAA-8F6C-4C33-84AE-75AF1ADA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9550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8B8769-3DB9-4249-A3FA-2B86A5E9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商品侧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8C7EE9-4074-454C-B168-7B4E1EE8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47950"/>
            <a:ext cx="19621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020"/>
                </a:solidFill>
              </a:defRPr>
            </a:pPr>
            <a:r>
              <a:rPr sz="1800" b="0">
                <a:solidFill>
                  <a:srgbClr val="202020"/>
                </a:solidFill>
              </a:rPr>
              <a:t>发布商品</a:t>
            </a:r>
          </a:p>
          <a:p xmlns:a="http://schemas.openxmlformats.org/drawingml/2006/main">
            <a:pPr algn="l">
              <a:defRPr sz="1800" b="0">
                <a:solidFill>
                  <a:srgbClr val="202020"/>
                </a:solidFill>
              </a:defRPr>
            </a:pPr>
            <a:r>
              <a:rPr sz="1800" b="0">
                <a:solidFill>
                  <a:srgbClr val="202020"/>
                </a:solidFill>
              </a:rPr>
              <a:t>搜索筛选</a:t>
            </a:r>
          </a:p>
          <a:p xmlns:a="http://schemas.openxmlformats.org/drawingml/2006/main">
            <a:pPr algn="l">
              <a:defRPr sz="1800" b="0">
                <a:solidFill>
                  <a:srgbClr val="202020"/>
                </a:solidFill>
              </a:defRPr>
            </a:pPr>
            <a:r>
              <a:rPr sz="1800" b="0">
                <a:solidFill>
                  <a:srgbClr val="202020"/>
                </a:solidFill>
              </a:rPr>
              <a:t>收藏浏览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9618EE-0EBE-41E4-B60E-9E629745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9550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3111A-E888-4E23-B1FF-AA29529A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交易侧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8352AA-1697-4665-82D9-DA965A26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19621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020"/>
                </a:solidFill>
              </a:defRPr>
            </a:pPr>
            <a:r>
              <a:rPr sz="1800" b="0">
                <a:solidFill>
                  <a:srgbClr val="202020"/>
                </a:solidFill>
              </a:rPr>
              <a:t>创建订单</a:t>
            </a:r>
          </a:p>
          <a:p xmlns:a="http://schemas.openxmlformats.org/drawingml/2006/main">
            <a:pPr algn="l">
              <a:defRPr sz="1800" b="0">
                <a:solidFill>
                  <a:srgbClr val="202020"/>
                </a:solidFill>
              </a:defRPr>
            </a:pPr>
            <a:r>
              <a:rPr sz="1800" b="0">
                <a:solidFill>
                  <a:srgbClr val="202020"/>
                </a:solidFill>
              </a:rPr>
              <a:t>模拟支付</a:t>
            </a:r>
          </a:p>
          <a:p xmlns:a="http://schemas.openxmlformats.org/drawingml/2006/main">
            <a:pPr algn="l">
              <a:defRPr sz="1800" b="0">
                <a:solidFill>
                  <a:srgbClr val="202020"/>
                </a:solidFill>
              </a:defRPr>
            </a:pPr>
            <a:r>
              <a:rPr sz="1800" b="0">
                <a:solidFill>
                  <a:srgbClr val="202020"/>
                </a:solidFill>
              </a:rPr>
              <a:t>发货收货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FA7650-8AE2-45EC-9311-5DF04E09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792458-0D4E-401D-B731-3C0EC6D9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669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管理侧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1FE2CF-3893-4D3E-A662-210888BA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47950"/>
            <a:ext cx="19621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020"/>
                </a:solidFill>
              </a:defRPr>
            </a:pPr>
            <a:r>
              <a:rPr sz="1800" b="0">
                <a:solidFill>
                  <a:srgbClr val="202020"/>
                </a:solidFill>
              </a:rPr>
              <a:t>商品审核</a:t>
            </a:r>
          </a:p>
          <a:p xmlns:a="http://schemas.openxmlformats.org/drawingml/2006/main">
            <a:pPr algn="l">
              <a:defRPr sz="1800" b="0">
                <a:solidFill>
                  <a:srgbClr val="202020"/>
                </a:solidFill>
              </a:defRPr>
            </a:pPr>
            <a:r>
              <a:rPr sz="1800" b="0">
                <a:solidFill>
                  <a:srgbClr val="202020"/>
                </a:solidFill>
              </a:rPr>
              <a:t>公告管理</a:t>
            </a:r>
          </a:p>
          <a:p xmlns:a="http://schemas.openxmlformats.org/drawingml/2006/main">
            <a:pPr algn="l">
              <a:defRPr sz="1800" b="0">
                <a:solidFill>
                  <a:srgbClr val="202020"/>
                </a:solidFill>
              </a:defRPr>
            </a:pPr>
            <a:r>
              <a:rPr sz="1800" b="0">
                <a:solidFill>
                  <a:srgbClr val="202020"/>
                </a:solidFill>
              </a:rPr>
              <a:t>数据统计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509C94-2CF8-4AD4-A428-D7A34764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目标是形成完整业务闭环，同时保证结构清晰、安全可控、便于后续扩展。</a:t>
            </a:r>
          </a:p>
        </p:txBody>
      </p:sp>
    </p:spTree>
    <p:extLst>
      <p:ext uri="{BB962C8B-B14F-4D97-AF65-F5344CB8AC3E}">
        <p14:creationId xmlns:p14="http://schemas.microsoft.com/office/powerpoint/2010/main" val="10210053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B5E46F-DCB3-4DA3-A552-80324B5C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项目简介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6626E0-D58B-432C-8344-E7E0F745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系统采用前后端分离架构，核心数据以 MySQL 为事实源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58950-07E5-47A7-89F2-0C0063AD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64C7E-B2AC-4F42-84BB-1EA0C19E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A34C0-1F98-4FE4-8C6D-219D45AF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2476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9A3CCC-5829-4E08-8D9D-BCD89985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前端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DF6245-E41A-46AB-88E5-6538BAEE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0574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Vue3</a:t>
            </a:r>
          </a:p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Vite</a:t>
            </a:r>
          </a:p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TypeScript</a:t>
            </a:r>
          </a:p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Pinia</a:t>
            </a:r>
          </a:p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Vue Router</a:t>
            </a:r>
          </a:p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Axios</a:t>
            </a:r>
          </a:p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Element Plus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3152C-0EC1-4636-A763-F3EFD557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05000"/>
            <a:ext cx="2476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68C21C-7670-4453-8AD4-54AEE9A3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764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后端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6D526-71D3-46AA-BDA7-A275577B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57450"/>
            <a:ext cx="20574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Spring Boot</a:t>
            </a:r>
          </a:p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Spring Security</a:t>
            </a:r>
          </a:p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JWT</a:t>
            </a:r>
          </a:p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MyBatis-Plus</a:t>
            </a:r>
          </a:p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RESTful API</a:t>
            </a:r>
          </a:p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统一异常处理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38938-CB5B-4992-9006-02E3EBB2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0500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EA1FCD-698B-43C3-A109-6081D47D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764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数据与缓存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FD8684-5F53-484E-8073-C73F4E1D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57450"/>
            <a:ext cx="30099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MySQL 存储核心业务数据</a:t>
            </a:r>
          </a:p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Redis 支持验证码、登录限流、JWT 黑名单、商品热度统计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C56A95-6F35-4FD1-BE35-DAC23D24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前端处理页面与交互，后端处理业务规则和权限，数据库保证交易状态可靠，Redis 承担高频辅助能力。</a:t>
            </a:r>
          </a:p>
        </p:txBody>
      </p:sp>
    </p:spTree>
    <p:extLst>
      <p:ext uri="{BB962C8B-B14F-4D97-AF65-F5344CB8AC3E}">
        <p14:creationId xmlns:p14="http://schemas.microsoft.com/office/powerpoint/2010/main" val="14966084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BB983F-B90A-495D-B86F-D0945346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项目简介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50AB4E-BE6F-47DE-BD1D-B9AC4183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功能模块围绕二手交易闭环组织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152CAD-FBD4-4C91-A4D6-C0765284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A6700-90DF-4C8C-97CF-EEE0D509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895A5-3F83-47C6-9B93-56728181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用户模块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3337C5-3A76-4E30-AA2D-76144231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19275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注册、登录、找回密码、个人中心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A23A17-D7F6-46C7-BD8F-B7A7901C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56B57-AF3F-42BA-A79E-9E0BE1A7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商品模块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2BE82C-F1DD-440F-A692-4C65D0C0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62225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发布、图片上传、搜索筛选、详情、收藏、上下架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4FFD23-5D91-4508-B3C5-B8407288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DC4CCF-6409-4582-9CB2-CD4FB322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66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订单模块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313C8-BF9E-41E0-AB8D-04489A3C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05175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下单、模拟支付、发货、确认收货、取消订单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20A9E5-B180-48A8-8BD0-B86D7319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719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77D00-507D-431A-91A3-630F62AF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95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消息模块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3C2255-93EF-4DB2-A97A-210C3F39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48125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买卖留言、系统通知、已读未读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C6815D-1ABB-4569-97CA-2FEEA0DC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148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BDE3CF-1F90-4908-94AE-F569D241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后台模块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09FDDC-3266-4751-B47F-4B5F5943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91075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商品审核、用户管理、订单管理、公告管理、数据统计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A66AFC-7E42-4F93-B4EE-0B62DC5E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78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940651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594128-8552-4A9A-8348-6B9E6900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项目简介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674A1-3638-42CF-AE38-763AE505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主流程从发布审核走到交易完成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6DB9A-D1DA-4658-BDFB-F30F37FE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A1C49-35EF-4C56-8444-D5F06621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C6010-8691-45D9-A464-00CE759C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A3D99-545C-41F8-9D2B-00A8E2B5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00722-79EF-4290-8835-37090EF7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43125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注册登录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AACD15-8FDB-406C-AA20-C57AC943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952625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5B8B7-393E-42FA-9BFC-CE63D3E9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240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CE814A-3B36-4D5E-BEB4-D02DC3BA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43125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发布商品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F6A1E-7895-49A7-80D6-2DD444B2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52625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D8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D9C91A-0238-427C-8335-757E4136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240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E994C-BF09-4B1E-95B8-B391FDB6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43125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管理员审核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625913-83CC-46C0-A3FD-4AE3C625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72408C-BBC6-4FB9-B844-4D4D2BC3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240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5D5D5B-A093-47BB-9F2C-AB882CFE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43125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商品上架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38EC3E-BE64-40F3-B9FA-4530D282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62375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67330E-C33C-4412-954C-23F848A1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B2F7DE-F648-4B67-93E6-2AD66F06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52875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搜索浏览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B919C1-A511-40A9-B572-9C6988E7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762375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395C46-3D59-49B4-B96C-B2FD5C04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9338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44BCF0-CDA9-45F5-99E3-216D492B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952875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收藏/下单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F92CDA-72B9-449E-AC6A-225E3F82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62375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DF7491-3FEE-4342-AFCF-1C3439A4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338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3E8318-D5AE-4475-8C65-1E3CA6ED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52875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支付发货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36B81F-271E-46B8-9D58-4864D7FB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62375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45AC51-BEF1-4F5D-9623-93729E04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338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0AA7E2-26B0-49EA-9C9E-83BA6CEE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52875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确认收货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1E3EFA-19EE-4F52-83BC-DD203CE8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721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审核是商品从“用户提交”进入“公开交易”的关键闸口，订单状态机则负责约束后续交易。</a:t>
            </a:r>
          </a:p>
        </p:txBody>
      </p:sp>
    </p:spTree>
    <p:extLst>
      <p:ext uri="{BB962C8B-B14F-4D97-AF65-F5344CB8AC3E}">
        <p14:creationId xmlns:p14="http://schemas.microsoft.com/office/powerpoint/2010/main" val="394571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392DF3-A5D0-481C-AF05-2546B8BE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第二部分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E1B97-8BD6-4146-9304-F352ED6F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重要设计与实现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90194-CE21-4E21-951C-E0CDB3CB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这一部分说明系统怎样保证可用、可靠、可维护。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FAF321-F854-4776-8210-BB35601F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285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B4B24-702B-48B5-BFAA-AB1552CB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742715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91FC1B-1E60-4679-BA3F-C658C31F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重要设计与实现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1D4A5-7289-4691-A2C3-C6F9A8F6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数据库围绕用户、商品、交易、消息和后台管理建模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C0D2E7-E13E-49B7-ADAD-5CA6112C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3CBBE-3407-419C-9E45-35BC7908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5C520-19A8-4404-91C8-8A9DD8BB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D6E175-7BE3-4EE0-B118-1831EDF5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4075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核心业务表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3D5B0-8840-450E-B0CD-3512E6FC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05075"/>
            <a:ext cx="30099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020"/>
                </a:solidFill>
              </a:defRPr>
            </a:pPr>
            <a:r>
              <a:rPr sz="1500" b="0">
                <a:solidFill>
                  <a:srgbClr val="202020"/>
                </a:solidFill>
              </a:rPr>
              <a:t>users 用户</a:t>
            </a:r>
          </a:p>
          <a:p xmlns:a="http://schemas.openxmlformats.org/drawingml/2006/main">
            <a:pPr algn="l">
              <a:defRPr sz="1500" b="0">
                <a:solidFill>
                  <a:srgbClr val="202020"/>
                </a:solidFill>
              </a:defRPr>
            </a:pPr>
            <a:r>
              <a:rPr sz="1500" b="0">
                <a:solidFill>
                  <a:srgbClr val="202020"/>
                </a:solidFill>
              </a:rPr>
              <a:t>products 商品</a:t>
            </a:r>
          </a:p>
          <a:p xmlns:a="http://schemas.openxmlformats.org/drawingml/2006/main">
            <a:pPr algn="l">
              <a:defRPr sz="1500" b="0">
                <a:solidFill>
                  <a:srgbClr val="202020"/>
                </a:solidFill>
              </a:defRPr>
            </a:pPr>
            <a:r>
              <a:rPr sz="1500" b="0">
                <a:solidFill>
                  <a:srgbClr val="202020"/>
                </a:solidFill>
              </a:rPr>
              <a:t>orders 订单</a:t>
            </a:r>
          </a:p>
          <a:p xmlns:a="http://schemas.openxmlformats.org/drawingml/2006/main">
            <a:pPr algn="l">
              <a:defRPr sz="1500" b="0">
                <a:solidFill>
                  <a:srgbClr val="202020"/>
                </a:solidFill>
              </a:defRPr>
            </a:pPr>
            <a:r>
              <a:rPr sz="1500" b="0">
                <a:solidFill>
                  <a:srgbClr val="202020"/>
                </a:solidFill>
              </a:rPr>
              <a:t>messages 留言</a:t>
            </a:r>
          </a:p>
          <a:p xmlns:a="http://schemas.openxmlformats.org/drawingml/2006/main">
            <a:pPr algn="l">
              <a:defRPr sz="1500" b="0">
                <a:solidFill>
                  <a:srgbClr val="202020"/>
                </a:solidFill>
              </a:defRPr>
            </a:pPr>
            <a:r>
              <a:rPr sz="1500" b="0">
                <a:solidFill>
                  <a:srgbClr val="202020"/>
                </a:solidFill>
              </a:rPr>
              <a:t>notifications 通知</a:t>
            </a:r>
          </a:p>
          <a:p xmlns:a="http://schemas.openxmlformats.org/drawingml/2006/main">
            <a:pPr algn="l">
              <a:defRPr sz="1500" b="0">
                <a:solidFill>
                  <a:srgbClr val="202020"/>
                </a:solidFill>
              </a:defRPr>
            </a:pPr>
            <a:r>
              <a:rPr sz="1500" b="0">
                <a:solidFill>
                  <a:srgbClr val="202020"/>
                </a:solidFill>
              </a:rPr>
              <a:t>announcements 公告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C65C7-664C-4398-971F-FC6B1EF8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52625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5E562C-4D26-442B-ABD6-920FFF74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24075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辅助与治理表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46267C-5115-41C0-B819-62EA034A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05075"/>
            <a:ext cx="30099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020"/>
                </a:solidFill>
              </a:defRPr>
            </a:pPr>
            <a:r>
              <a:rPr sz="1500" b="0">
                <a:solidFill>
                  <a:srgbClr val="202020"/>
                </a:solidFill>
              </a:rPr>
              <a:t>categories 分类</a:t>
            </a:r>
          </a:p>
          <a:p xmlns:a="http://schemas.openxmlformats.org/drawingml/2006/main">
            <a:pPr algn="l">
              <a:defRPr sz="1500" b="0">
                <a:solidFill>
                  <a:srgbClr val="202020"/>
                </a:solidFill>
              </a:defRPr>
            </a:pPr>
            <a:r>
              <a:rPr sz="1500" b="0">
                <a:solidFill>
                  <a:srgbClr val="202020"/>
                </a:solidFill>
              </a:rPr>
              <a:t>product_images 图片</a:t>
            </a:r>
          </a:p>
          <a:p xmlns:a="http://schemas.openxmlformats.org/drawingml/2006/main">
            <a:pPr algn="l">
              <a:defRPr sz="1500" b="0">
                <a:solidFill>
                  <a:srgbClr val="202020"/>
                </a:solidFill>
              </a:defRPr>
            </a:pPr>
            <a:r>
              <a:rPr sz="1500" b="0">
                <a:solidFill>
                  <a:srgbClr val="202020"/>
                </a:solidFill>
              </a:rPr>
              <a:t>favorites 收藏</a:t>
            </a:r>
          </a:p>
          <a:p xmlns:a="http://schemas.openxmlformats.org/drawingml/2006/main">
            <a:pPr algn="l">
              <a:defRPr sz="1500" b="0">
                <a:solidFill>
                  <a:srgbClr val="202020"/>
                </a:solidFill>
              </a:defRPr>
            </a:pPr>
            <a:r>
              <a:rPr sz="1500" b="0">
                <a:solidFill>
                  <a:srgbClr val="202020"/>
                </a:solidFill>
              </a:rPr>
              <a:t>order_logs 订单日志</a:t>
            </a:r>
          </a:p>
          <a:p xmlns:a="http://schemas.openxmlformats.org/drawingml/2006/main">
            <a:pPr algn="l">
              <a:defRPr sz="1500" b="0">
                <a:solidFill>
                  <a:srgbClr val="202020"/>
                </a:solidFill>
              </a:defRPr>
            </a:pPr>
            <a:r>
              <a:rPr sz="1500" b="0">
                <a:solidFill>
                  <a:srgbClr val="202020"/>
                </a:solidFill>
              </a:rPr>
              <a:t>reports 举报</a:t>
            </a:r>
          </a:p>
          <a:p xmlns:a="http://schemas.openxmlformats.org/drawingml/2006/main">
            <a:pPr algn="l">
              <a:defRPr sz="1500" b="0">
                <a:solidFill>
                  <a:srgbClr val="202020"/>
                </a:solidFill>
              </a:defRPr>
            </a:pPr>
            <a:r>
              <a:rPr sz="1500" b="0">
                <a:solidFill>
                  <a:srgbClr val="202020"/>
                </a:solidFill>
              </a:rPr>
              <a:t>sensitive_words 敏感词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7667D-24DE-4FFA-9EAC-5F724E12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52625"/>
            <a:ext cx="2857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FE8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E450BE-5C0B-4CA4-9119-0B08C8BA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24075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设计特点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9F8471-7BF7-468F-AB45-DB6EC36E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05075"/>
            <a:ext cx="24384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020"/>
                </a:solidFill>
              </a:defRPr>
            </a:pPr>
            <a:r>
              <a:rPr sz="1500" b="0">
                <a:solidFill>
                  <a:srgbClr val="202020"/>
                </a:solidFill>
              </a:rPr>
              <a:t>status 管理状态</a:t>
            </a:r>
          </a:p>
          <a:p xmlns:a="http://schemas.openxmlformats.org/drawingml/2006/main">
            <a:pPr algn="l">
              <a:defRPr sz="1500" b="0">
                <a:solidFill>
                  <a:srgbClr val="202020"/>
                </a:solidFill>
              </a:defRPr>
            </a:pPr>
            <a:r>
              <a:rPr sz="1500" b="0">
                <a:solidFill>
                  <a:srgbClr val="202020"/>
                </a:solidFill>
              </a:rPr>
              <a:t>version 支持乐观锁</a:t>
            </a:r>
          </a:p>
          <a:p xmlns:a="http://schemas.openxmlformats.org/drawingml/2006/main">
            <a:pPr algn="l">
              <a:defRPr sz="1500" b="0">
                <a:solidFill>
                  <a:srgbClr val="202020"/>
                </a:solidFill>
              </a:defRPr>
            </a:pPr>
            <a:r>
              <a:rPr sz="1500" b="0">
                <a:solidFill>
                  <a:srgbClr val="202020"/>
                </a:solidFill>
              </a:rPr>
              <a:t>deleted 支持软删除</a:t>
            </a:r>
          </a:p>
          <a:p xmlns:a="http://schemas.openxmlformats.org/drawingml/2006/main">
            <a:pPr algn="l">
              <a:defRPr sz="1500" b="0">
                <a:solidFill>
                  <a:srgbClr val="202020"/>
                </a:solidFill>
              </a:defRPr>
            </a:pPr>
            <a:r>
              <a:rPr sz="1500" b="0">
                <a:solidFill>
                  <a:srgbClr val="202020"/>
                </a:solidFill>
              </a:rPr>
              <a:t>唯一约束避免重复收藏</a:t>
            </a:r>
          </a:p>
          <a:p xmlns:a="http://schemas.openxmlformats.org/drawingml/2006/main">
            <a:pPr algn="l">
              <a:defRPr sz="1500" b="0">
                <a:solidFill>
                  <a:srgbClr val="202020"/>
                </a:solidFill>
              </a:defRPr>
            </a:pPr>
            <a:r>
              <a:rPr sz="1500" b="0">
                <a:solidFill>
                  <a:srgbClr val="202020"/>
                </a:solidFill>
              </a:rPr>
              <a:t>索引支撑列表与订单查询</a:t>
            </a:r>
          </a:p>
        </p:txBody>
      </p:sp>
    </p:spTree>
    <p:extLst>
      <p:ext uri="{BB962C8B-B14F-4D97-AF65-F5344CB8AC3E}">
        <p14:creationId xmlns:p14="http://schemas.microsoft.com/office/powerpoint/2010/main" val="18117656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D76A0F-FB0D-49AA-9555-E97C4387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重要设计与实现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DB9579-FB6C-42C3-BDC2-210B4540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认证与权限设计把用户身份贯穿前后端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620DC9-F1EA-41B0-92F0-C3BFEB3C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8D642-C71B-4641-890F-6B9D7724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D3F002-7FFE-4774-9D14-6B36374A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4A4F8-D89B-4C92-8602-9243C64E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7391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登录成功后，后端生成 JWT，前端在后续请求中携带 token。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1F225C-BDB3-4684-A0C7-6D6F7458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86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34C236-0BC2-4055-ADCB-5892AE7C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9825"/>
            <a:ext cx="7391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后端解析 token，识别用户 ID 与角色，接口以认证上下文为准。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98329-E3B7-438B-92E8-4F7822B2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88594D-8648-4E62-B695-C717B552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7391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普通用户可浏览、发布和购买商品；管理员可进入后台审核和管理。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D4FD0-D9F8-470C-869C-EA6B96F1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61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713D5A-D203-4E48-AE96-BBCFF252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9975"/>
            <a:ext cx="7391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前端路由守卫限制未登录用户访问发布、订单、消息等页面。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19AA08-DEC1-4892-B2B6-4E0FB67F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693CA6-CB14-461D-A6AC-2569EF09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7391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Redis 支持验证码、登录限流和 JWT 黑名单，提升安全性。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354EDF-CBD3-4241-959F-DDF687B7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38375"/>
            <a:ext cx="2476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A70A5E-6F60-4334-9126-99827D9F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098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权限边界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4201C4-69B9-498D-AC07-47C54AB6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90825"/>
            <a:ext cx="2057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020"/>
                </a:solidFill>
              </a:defRPr>
            </a:pPr>
            <a:r>
              <a:rPr sz="1500" b="0">
                <a:solidFill>
                  <a:srgbClr val="202020"/>
                </a:solidFill>
              </a:rPr>
              <a:t>用户身份不信任前端传入的 ownerId、sellerId 或 buyerId，而是以后端解析出的认证身份为准。</a:t>
            </a:r>
          </a:p>
        </p:txBody>
      </p:sp>
    </p:spTree>
    <p:extLst>
      <p:ext uri="{BB962C8B-B14F-4D97-AF65-F5344CB8AC3E}">
        <p14:creationId xmlns:p14="http://schemas.microsoft.com/office/powerpoint/2010/main" val="18500950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46D568-287C-4070-84C0-5494817A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重要设计与实现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4565D-6C36-4EF9-8C67-59992E35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商品发布先审核再展示，降低违规内容风险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9802C-4ED2-4053-A825-2CD6E9EB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7906D-D363-4B32-80E7-6A756115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C4C765-F6C8-452B-802D-EED9265A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E4968-87A0-45F4-AF78-FD663528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提交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9D596-593B-418E-8662-13A9C03D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9621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020"/>
                </a:solidFill>
              </a:defRPr>
            </a:pPr>
            <a:r>
              <a:rPr sz="1500" b="0">
                <a:solidFill>
                  <a:srgbClr val="202020"/>
                </a:solidFill>
              </a:rPr>
              <a:t>用户填写标题、描述、价格、分类和图片，后端校验参数与分类。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A01B9-65B1-46AA-B6EC-DABC4332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9550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9A81D0-4D84-4B49-9DF0-12511C6E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检测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57924-2335-48D2-B80E-E0ECB9D0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47950"/>
            <a:ext cx="19621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020"/>
                </a:solidFill>
              </a:defRPr>
            </a:pPr>
            <a:r>
              <a:rPr sz="1500" b="0">
                <a:solidFill>
                  <a:srgbClr val="202020"/>
                </a:solidFill>
              </a:rPr>
              <a:t>商品标题和描述经过敏感词检测，不合规内容直接阻断。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D74784-194A-43A4-B988-A29B0EF0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9550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FE8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B87CEB-FF86-4D8F-88B0-370553ED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审核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CF07D8-543C-4CF5-B256-2735270F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19621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020"/>
                </a:solidFill>
              </a:defRPr>
            </a:pPr>
            <a:r>
              <a:rPr sz="1500" b="0">
                <a:solidFill>
                  <a:srgbClr val="202020"/>
                </a:solidFill>
              </a:rPr>
              <a:t>商品初始状态为 PENDING，管理员通过后变为 APPROVED。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6D8F59-EE15-4223-B483-024F7C77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1700F8-F2C3-4829-BEC0-1D02FB85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669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通知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8D9409-9265-411F-8E8E-D40B2E16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47950"/>
            <a:ext cx="19621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020"/>
                </a:solidFill>
              </a:defRPr>
            </a:pPr>
            <a:r>
              <a:rPr sz="1500" b="0">
                <a:solidFill>
                  <a:srgbClr val="202020"/>
                </a:solidFill>
              </a:rPr>
              <a:t>审核结果写入通知，发布者可看到通过或拒绝原因。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6DD885-21C9-4933-9759-F1D09489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审核流程让商品从“个人发布内容”变成“平台可交易资源”。</a:t>
            </a:r>
          </a:p>
        </p:txBody>
      </p:sp>
    </p:spTree>
    <p:extLst>
      <p:ext uri="{BB962C8B-B14F-4D97-AF65-F5344CB8AC3E}">
        <p14:creationId xmlns:p14="http://schemas.microsoft.com/office/powerpoint/2010/main" val="444413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3C5E6B-65D3-4BC3-AE2E-90253CA3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重要设计与实现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B65D6-5A88-44EB-9656-DA95E741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订单状态机保证交易流程不能被随意跳转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E882D-C460-44E5-88C0-E6252A56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11011-6481-4DBF-9ECE-87147AC7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EE2388-8A5E-41E1-BC08-821E6015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BC25F-7376-4404-8200-D099D9D8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待支付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4947D2-66E6-499F-9F35-41276AC7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PENDING_PAYMENT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A3FF54-1671-4104-8712-BF98F325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38125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E47E81-F401-4736-9934-7B53F675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533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已支付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829C69-84EC-40DB-82A8-DB16DB05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838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PAID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583207-3517-4782-9640-FA978BF7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8125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A8667E-F69C-47DA-8B1A-28D238C0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33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已发货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51E96C-82BB-452C-B999-0B6DEE67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38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SHIPPED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826DA6-7AF9-46AA-B02D-BB4C030E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38125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275B6-20F0-4D8D-ABBE-9354E767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533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已完成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B4156F-BA93-45A9-9DB1-45FC8749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838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COMPLETED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D39711-1813-482D-9B84-D347ED44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910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6EB1A8-C093-469D-9B36-9755906F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434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已取消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A991A2-440B-4C89-9EA4-7253D0A7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648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CANCELED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94B07A-BF37-4CCF-B238-34A7F578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允许流转：待支付 → 已支付 / 已取消；已支付 → 已发货 / 已取消；已发货 → 已完成。</a:t>
            </a:r>
          </a:p>
        </p:txBody>
      </p:sp>
    </p:spTree>
    <p:extLst>
      <p:ext uri="{BB962C8B-B14F-4D97-AF65-F5344CB8AC3E}">
        <p14:creationId xmlns:p14="http://schemas.microsoft.com/office/powerpoint/2010/main" val="20328333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145F70-8B1F-4EB9-A8B3-D90D1D1C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重要设计与实现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42F58-4254-4ADA-9BC3-FED06111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项目已实现基础并发保障，重点防止交易状态错乱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527DA-3E6D-498D-86A1-1D01F4C4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E5C33-60F9-4EBD-9492-E5B4ED91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A4D080-7D2B-42E3-A518-E5BF07E1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5000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FE8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E5967-73F0-4A0A-AD0A-AC6443E3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4581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下单防超卖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75803-039B-445B-B333-581D90DD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45815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020"/>
                </a:solidFill>
              </a:defRPr>
            </a:pPr>
            <a:r>
              <a:rPr sz="1425" b="0">
                <a:solidFill>
                  <a:srgbClr val="202020"/>
                </a:solidFill>
              </a:rPr>
              <a:t>商品使用 version 乐观锁，只允许状态仍为 APPROVED 且版本匹配的请求购买成功。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5E134-7BF8-4675-A1DA-7279B6BB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00250"/>
            <a:ext cx="5000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DD0FFF-478B-4F20-90B5-D33F4B47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71700"/>
            <a:ext cx="4581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订单状态并发控制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932276-D560-45E2-AEF2-30B899F2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552700"/>
            <a:ext cx="45815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020"/>
                </a:solidFill>
              </a:defRPr>
            </a:pPr>
            <a:r>
              <a:rPr sz="1425" b="0">
                <a:solidFill>
                  <a:srgbClr val="202020"/>
                </a:solidFill>
              </a:rPr>
              <a:t>订单更新同时校验当前状态和 version，避免多个请求覆盖同一状态。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AF4FD8-68B9-4894-9F60-2CBAFA93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5000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AAF085-1407-467B-B5BA-30177088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4581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登录限流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2205BC-63EA-41D5-A242-90B7DB5C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45815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020"/>
                </a:solidFill>
              </a:defRPr>
            </a:pPr>
            <a:r>
              <a:rPr sz="1425" b="0">
                <a:solidFill>
                  <a:srgbClr val="202020"/>
                </a:solidFill>
              </a:rPr>
              <a:t>Redis 记录同一 IP 登录失败次数，超过阈值后限制继续尝试。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BC104C-56B8-4928-A875-6B65A18A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000500"/>
            <a:ext cx="5000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B5663F-92E3-454A-9A8C-534B14C3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171950"/>
            <a:ext cx="4581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热度统计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8E50F8-BFF1-4B43-80B8-7AFF1DE1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552950"/>
            <a:ext cx="45815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020"/>
                </a:solidFill>
              </a:defRPr>
            </a:pPr>
            <a:r>
              <a:rPr sz="1425" b="0">
                <a:solidFill>
                  <a:srgbClr val="202020"/>
                </a:solidFill>
              </a:rPr>
              <a:t>商品详情访问写入浏览量，并用 Redis 记录热门商品分数。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A94DE1-3A1E-42BC-8EB1-EEA9068E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答辩口径：这是基础高并发保障，不是完整分布式高并发架构。</a:t>
            </a:r>
          </a:p>
        </p:txBody>
      </p:sp>
    </p:spTree>
    <p:extLst>
      <p:ext uri="{BB962C8B-B14F-4D97-AF65-F5344CB8AC3E}">
        <p14:creationId xmlns:p14="http://schemas.microsoft.com/office/powerpoint/2010/main" val="18903864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78FEA7-C6C2-4655-8006-9F83425A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重要设计与实现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20508-D199-42E2-A08A-0C8F37F1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状态模式把订单流转规则集中到一个位置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DE3CD-5524-4232-9F62-C708B2CE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AD03D1-CC6B-4348-A457-F95979D0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05A6B-AF47-4724-BAEF-5F2E2F26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3238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6A11C-DC99-43A3-AEF5-CBEF3C59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功能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19D90-6A35-45A3-B63F-E06E9F04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2819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把订单不同阶段的规则集中管理，避免每个接口都重复写状态判断。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656DA-38DF-4B9D-B64E-5B6B051A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00250"/>
            <a:ext cx="4000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FE8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3D6C85-D95F-473A-AAC6-34B7C8FD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71700"/>
            <a:ext cx="3581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具体实现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6910F-7BAB-4612-A0B5-1D38BEF6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52700"/>
            <a:ext cx="35814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020"/>
                </a:solidFill>
              </a:defRPr>
            </a:pPr>
            <a:r>
              <a:rPr sz="1500" b="0">
                <a:solidFill>
                  <a:srgbClr val="202020"/>
                </a:solidFill>
              </a:rPr>
              <a:t>OrderStatus 枚举表示状态，并通过 canTransitionTo() 定义允许的状态变化。支付、发货、确认收货、取消订单时都先校验流转是否合法。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20788F-01D5-4478-87C1-DCAFC167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00250"/>
            <a:ext cx="2476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08FFE4-FDE9-4E8A-8694-8A51C806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7170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项目价值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061B3C-F27B-4C41-B23F-CEC26240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52700"/>
            <a:ext cx="20574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020"/>
                </a:solidFill>
              </a:defRPr>
            </a:pPr>
            <a:r>
              <a:rPr sz="1500" b="0">
                <a:solidFill>
                  <a:srgbClr val="202020"/>
                </a:solidFill>
              </a:rPr>
              <a:t>订单流程更清晰；非法状态跳转更容易被阻止；后续新增状态时维护范围更集中。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1D49BA-8747-4004-B843-99ADD854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81625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不是硬套框架能力，而是项目代码里围绕订单业务抽象出的状态机。</a:t>
            </a:r>
          </a:p>
        </p:txBody>
      </p:sp>
    </p:spTree>
    <p:extLst>
      <p:ext uri="{BB962C8B-B14F-4D97-AF65-F5344CB8AC3E}">
        <p14:creationId xmlns:p14="http://schemas.microsoft.com/office/powerpoint/2010/main" val="30401771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0EC56B-0171-4160-A287-090FBB12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重要设计与实现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8B77B-3604-43F2-88A7-1F94B364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模板方法模式减少订单操作的重复代码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964AEE-D138-414B-878F-7EC5E593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2355B-9281-434C-A00C-6C79AD74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4B402-20B0-4676-9056-50A83081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支付、发货、确认收货、取消订单的目标不同，但处理骨架相似。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0D6BB-32FD-4AA8-BB96-5692D825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9875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405789-1274-4362-9FBC-889C640A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查询订单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B868E1-077E-4AB3-BD84-C9F6DF95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809875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66E4C2-651D-469A-9F7B-415AFF47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480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校验操作者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1C47E8-273C-429B-9BBA-0D87473F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09875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877021-7442-4CD4-A6A1-3B59A9E3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校验状态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C32023-864D-4E41-AC6B-B15FCD74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809875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FE8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0B9000-CD43-4204-B127-B990E77E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480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更新状态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0086C9-CAD4-4C43-A989-77F100E7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09875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DB3E2D-1CDC-4731-87DC-98056E2A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480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写订单日志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7AD2AF-0873-4AAC-9418-918B5143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809875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0A069B-C850-4F07-BAAE-D8CF158B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0480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发送通知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CE2E03-B88D-4972-8664-01A6F39E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29125"/>
            <a:ext cx="8572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C3B2F4-41CF-4EB8-934B-4DCD1538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00575"/>
            <a:ext cx="815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具体实现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59824C-8B75-4309-BC05-6E3971D2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81575"/>
            <a:ext cx="815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020"/>
                </a:solidFill>
              </a:defRPr>
            </a:pPr>
            <a:r>
              <a:rPr sz="1500" b="0">
                <a:solidFill>
                  <a:srgbClr val="202020"/>
                </a:solidFill>
              </a:rPr>
              <a:t>pay()、ship()、confirm() 等方法最终调用统一的 transition() / transitionEntity() 方法，只传入操作者、目标状态和必要参数。</a:t>
            </a:r>
          </a:p>
        </p:txBody>
      </p:sp>
    </p:spTree>
    <p:extLst>
      <p:ext uri="{BB962C8B-B14F-4D97-AF65-F5344CB8AC3E}">
        <p14:creationId xmlns:p14="http://schemas.microsoft.com/office/powerpoint/2010/main" val="10906852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872C42-EA80-4532-ADA5-A7D93532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重要设计与实现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CD8D6-6167-4B32-9D64-308B680F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Service 作为门面封装复杂业务流程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1C11A-007D-4A79-9051-EF1AE854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D2DD2-8E99-4B63-82F2-2AE40E2B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69845-9BC5-42B5-8348-60B3DE57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4000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F66511-31A9-4053-A1FB-88A1F915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3581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Controller 看到的接口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1F0E8-51AD-4CFB-A15B-6FF07B3E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3581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020"/>
                </a:solidFill>
              </a:defRPr>
            </a:pPr>
            <a:r>
              <a:rPr sz="1800" b="0">
                <a:solidFill>
                  <a:srgbClr val="202020"/>
                </a:solidFill>
              </a:rPr>
              <a:t>orderService.createOrder(userId, request)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003D2-41B5-463A-B1B4-DF0DAC14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714500"/>
            <a:ext cx="4000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FE8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F9316-A0D2-47CA-A23A-474A2233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885950"/>
            <a:ext cx="3581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Service 内部协调的步骤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21C3EC-3D21-4B1E-81A3-EB9D139F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66950"/>
            <a:ext cx="35814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商品查询</a:t>
            </a:r>
          </a:p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禁止购买自己的商品</a:t>
            </a:r>
          </a:p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状态校验</a:t>
            </a:r>
          </a:p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订单生成</a:t>
            </a:r>
          </a:p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乐观锁标记已售</a:t>
            </a:r>
          </a:p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订单日志</a:t>
            </a:r>
          </a:p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行为记录</a:t>
            </a:r>
          </a:p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通知卖家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9DEFE6-D965-4530-B082-82AADEAA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7212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门面模式让控制层保持简单，把业务编排集中在 Service 层，便于测试和维护。</a:t>
            </a:r>
          </a:p>
        </p:txBody>
      </p:sp>
    </p:spTree>
    <p:extLst>
      <p:ext uri="{BB962C8B-B14F-4D97-AF65-F5344CB8AC3E}">
        <p14:creationId xmlns:p14="http://schemas.microsoft.com/office/powerpoint/2010/main" val="137135498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047A10-1402-40A0-A1A9-1B08C6CC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重要设计与实现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B368CA-F4C5-4604-8DAD-0EF949E5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推荐模块根据用户行为选择不同评分策略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48890-12B3-46E2-98C4-9EF6DC80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A14CE-14E6-489A-87BB-FB997AA9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1374A-74AC-4220-97A1-EECEC4BF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67C16-4459-4EC4-B633-56100A21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19325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冷启动推荐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15D26B-A30D-4A43-9393-9F121794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2819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面向未登录用户或没有行为记录的用户，主要依据商品热度和发布时间。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73C607-7687-4A53-AC9D-01164B1D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47875"/>
            <a:ext cx="3714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FE8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DFF11E-0B29-491F-93ED-FE721E33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19325"/>
            <a:ext cx="3295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个性化推荐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3B1C8-A55D-4762-BB39-E2F4FAF1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00325"/>
            <a:ext cx="3295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面向有行为记录的用户，根据浏览、收藏、购买、搜索关键词、分类偏好和价格偏好构建兴趣画像。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E4A2A-C005-428D-8072-997B7ED3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47875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272EC7-156C-4B5B-831F-83242A0E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193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策略模式思想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1E15D1-E281-45A3-A441-7F14ECB9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00325"/>
            <a:ext cx="2057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020"/>
                </a:solidFill>
              </a:defRPr>
            </a:pPr>
            <a:r>
              <a:rPr sz="1500" b="0">
                <a:solidFill>
                  <a:srgbClr val="202020"/>
                </a:solidFill>
              </a:rPr>
              <a:t>不同用户情况采用不同评分策略，避免新用户没有历史数据时无法推荐。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D21F63-BAE1-49DA-BB0D-AA0C4CE2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推荐分数 = 热度分 + 新鲜度分 + 分类偏好分 + 关键词匹配分 + 价格匹配分 - 已接触商品降权</a:t>
            </a:r>
          </a:p>
        </p:txBody>
      </p:sp>
    </p:spTree>
    <p:extLst>
      <p:ext uri="{BB962C8B-B14F-4D97-AF65-F5344CB8AC3E}">
        <p14:creationId xmlns:p14="http://schemas.microsoft.com/office/powerpoint/2010/main" val="9583355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26B7A2-7BF6-41DC-860C-86B31B42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重要设计与实现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C85A3-8EBB-43DB-A5E8-77FF9299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商品推荐算法用轻量画像提升商品曝光效率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C3095-3344-4287-B923-C7883FF5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DAEE7-BFC7-411A-9E92-69EC0C92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5CE64-9A40-433C-85AB-157496A2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5000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FE8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0267CC-58F9-4215-836B-7EAAB34D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4075"/>
            <a:ext cx="4581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行为权重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5C4AC-93D6-4CEF-825C-9237BF9A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05075"/>
            <a:ext cx="45815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浏览 8</a:t>
            </a:r>
          </a:p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搜索 14</a:t>
            </a:r>
          </a:p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收藏 30</a:t>
            </a:r>
          </a:p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购买 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335D4-7952-4989-842F-77402279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952625"/>
            <a:ext cx="5000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540C3-E02F-4B54-AE3C-FABC4E37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24075"/>
            <a:ext cx="4581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时间衰减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A0B4BE-0055-4438-BECC-C1A8FE91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505075"/>
            <a:ext cx="45815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越新的行为影响越大，历史行为逐步降低权重。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7D716-00CD-4A28-B955-6B881902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57625"/>
            <a:ext cx="5000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FD9D76-F19B-45BE-A2C5-DF38D15B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29075"/>
            <a:ext cx="4581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候选商品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71431A-BCA8-4DE3-A4CE-5A463BB4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0075"/>
            <a:ext cx="45815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只取审核通过、未删除且不是自己发布的商品。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1A0924-7A4B-4230-A357-DE83F135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857625"/>
            <a:ext cx="5000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E0BCC2-A89D-47E0-B6D5-9B44C854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029075"/>
            <a:ext cx="4581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降权处理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810985-1367-4825-B7E8-B180A1BC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410075"/>
            <a:ext cx="45815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已经浏览、收藏或购买过的商品降低推荐分。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5893E0-A8FF-47F8-A375-2B1CE32E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实现特点：算法解释性强，便于答辩说明，也方便后续替换成协同过滤或机器学习模型。</a:t>
            </a:r>
          </a:p>
        </p:txBody>
      </p:sp>
    </p:spTree>
    <p:extLst>
      <p:ext uri="{BB962C8B-B14F-4D97-AF65-F5344CB8AC3E}">
        <p14:creationId xmlns:p14="http://schemas.microsoft.com/office/powerpoint/2010/main" val="86292549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DF7241-3A02-4254-9C16-34DCCF5C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重要设计与实现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094E3-10F8-496A-8876-873EF9DC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测试覆盖后端流程、前端页面和关键异常场景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156A7-010D-4B40-AA04-A5238B7E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5007E4-10A6-4479-94F7-9EB827E0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16CD0F-1FD4-4394-AC9E-3406A9E5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747BA-305A-43B3-A20E-2D1E4169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4075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后端测试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83475-D0CC-4DB8-BE5C-7A00C755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05075"/>
            <a:ext cx="28194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用户认证</a:t>
            </a:r>
          </a:p>
          <a:p xmlns:a="http://schemas.openxmlformats.org/drawingml/2006/main">
            <a:pPr algn="l"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商品流程</a:t>
            </a:r>
          </a:p>
          <a:p xmlns:a="http://schemas.openxmlformats.org/drawingml/2006/main">
            <a:pPr algn="l"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订单流程</a:t>
            </a:r>
          </a:p>
          <a:p xmlns:a="http://schemas.openxmlformats.org/drawingml/2006/main">
            <a:pPr algn="l"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并发下单</a:t>
            </a:r>
          </a:p>
          <a:p xmlns:a="http://schemas.openxmlformats.org/drawingml/2006/main">
            <a:pPr algn="l"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消息模块</a:t>
            </a:r>
          </a:p>
          <a:p xmlns:a="http://schemas.openxmlformats.org/drawingml/2006/main">
            <a:pPr algn="l"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后台管理</a:t>
            </a:r>
          </a:p>
          <a:p xmlns:a="http://schemas.openxmlformats.org/drawingml/2006/main">
            <a:pPr algn="l"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Redis 降级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61C97-A359-4426-A8A3-625184F1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52625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D65CF7-97DB-407E-BF8C-D22811E5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24075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前端测试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C6AB8-6F67-4787-A708-D24DACC6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05075"/>
            <a:ext cx="28194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页面渲染</a:t>
            </a:r>
          </a:p>
          <a:p xmlns:a="http://schemas.openxmlformats.org/drawingml/2006/main">
            <a:pPr algn="l"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路由权限</a:t>
            </a:r>
          </a:p>
          <a:p xmlns:a="http://schemas.openxmlformats.org/drawingml/2006/main">
            <a:pPr algn="l"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商品卡片</a:t>
            </a:r>
          </a:p>
          <a:p xmlns:a="http://schemas.openxmlformats.org/drawingml/2006/main">
            <a:pPr algn="l"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订单中心</a:t>
            </a:r>
          </a:p>
          <a:p xmlns:a="http://schemas.openxmlformats.org/drawingml/2006/main">
            <a:pPr algn="l"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消息中心</a:t>
            </a:r>
          </a:p>
          <a:p xmlns:a="http://schemas.openxmlformats.org/drawingml/2006/main">
            <a:pPr algn="l"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API 合约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CFA22E-372D-48C4-B0C8-E29CF583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52625"/>
            <a:ext cx="2857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FE8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9E1A90-51AC-4B5A-A21B-E775D52E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24075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质量保障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81BE8E-07CC-43C7-A1C8-78C51160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05075"/>
            <a:ext cx="24384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统一响应格式</a:t>
            </a:r>
          </a:p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统一异常处理</a:t>
            </a:r>
          </a:p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参数校验</a:t>
            </a:r>
          </a:p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权限控制</a:t>
            </a:r>
          </a:p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数据库约束</a:t>
            </a:r>
          </a:p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乐观锁并发控制</a:t>
            </a:r>
          </a:p>
        </p:txBody>
      </p:sp>
    </p:spTree>
    <p:extLst>
      <p:ext uri="{BB962C8B-B14F-4D97-AF65-F5344CB8AC3E}">
        <p14:creationId xmlns:p14="http://schemas.microsoft.com/office/powerpoint/2010/main" val="58450952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05D1A1-0D6C-4FF4-A4F9-BF241D54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第三部分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E8522-1A84-4D0E-AB0F-3BAB478C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总结与成员分工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270940-4BE0-4A25-ADBB-2A547FA5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最后回到项目成果、后续改进和团队贡献。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2ABAA-40D9-4FC9-9A0E-61EF805D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285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96B60-271F-4F30-9D1B-A2D0D461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99636116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982E75-88AC-4F11-AE85-4FFA8F47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总结与成员分工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EA9EDE-6C32-4B16-AB42-88F7D14C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项目完成了从发布到交易再到管理的核心闭环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22A2E-1529-47E9-BAC2-E620BA48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54C0E5-454C-4281-9F25-91F690D9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F9FFA1-C14C-4433-AFC1-B308A524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A2717-2A27-4E6B-A6DB-9C7C3A4B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7867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前后端分离，页面、接口、数据库和缓存职责清晰。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68616-D1B2-4174-A587-BD432964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86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C6C164-EF4D-464B-B403-EE9DB0DA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9825"/>
            <a:ext cx="7867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商品审核、敏感词检测和后台管理提升平台治理能力。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6E2D1-5725-4C5F-A80B-18733650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346AAD-488D-46F6-B8A3-AA709A47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7867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订单状态机和乐观锁保证交易流程可靠，降低并发冲突风险。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34391-5A50-44A6-99D3-5D6A910E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61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723035-F516-4A12-8CB1-32CB7A5A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9975"/>
            <a:ext cx="7867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推荐算法利用用户行为与商品热度，提高商品曝光和用户体验。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26EF84-23DD-4A24-A728-2476791E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DB8091-5A78-48F6-86B8-7C33F4DD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7867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测试覆盖主要业务流，为课程验收和后续扩展提供基础。</a:t>
            </a:r>
          </a:p>
        </p:txBody>
      </p:sp>
    </p:spTree>
    <p:extLst>
      <p:ext uri="{BB962C8B-B14F-4D97-AF65-F5344CB8AC3E}">
        <p14:creationId xmlns:p14="http://schemas.microsoft.com/office/powerpoint/2010/main" val="104314517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8F5BA0-E1F9-4A67-80CC-77643BD3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总结与成员分工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DC2A87-9A41-49F1-B008-4B49204C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后续可以从真实交易、实时沟通和系统性能继续增强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D3FE1-1678-4747-83AC-61BAB233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873BF-3F6C-400F-BF03-035A7393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CAED7-6E73-40EF-9521-FB096C99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5000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AB33A-1419-4154-949A-E20DBC94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4581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真实支付与物流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3D68C-778B-4F52-9122-877ECEBD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45815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020"/>
                </a:solidFill>
              </a:defRPr>
            </a:pPr>
            <a:r>
              <a:rPr sz="1500" b="0">
                <a:solidFill>
                  <a:srgbClr val="202020"/>
                </a:solidFill>
              </a:rPr>
              <a:t>接入支付沙箱或第三方物流接口，让交易闭环更接近真实平台。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03908-6D17-4C85-B348-9234EB45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00250"/>
            <a:ext cx="5000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0C92E5-BDC9-44C7-B7CB-C4787207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71700"/>
            <a:ext cx="4581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实时聊天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991570-0AF9-4571-AFC4-E39A9358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552700"/>
            <a:ext cx="45815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020"/>
                </a:solidFill>
              </a:defRPr>
            </a:pPr>
            <a:r>
              <a:rPr sz="1500" b="0">
                <a:solidFill>
                  <a:srgbClr val="202020"/>
                </a:solidFill>
              </a:rPr>
              <a:t>将站内留言升级为 WebSocket 实时会话，提升买卖沟通效率。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3FD73C-59AF-424A-9A9A-6BCB8F09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5000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DE5DD8-8109-4706-8890-A514E03F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4581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推荐优化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372760-4581-41B7-B0A0-E181715B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45815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020"/>
                </a:solidFill>
              </a:defRPr>
            </a:pPr>
            <a:r>
              <a:rPr sz="1500" b="0">
                <a:solidFill>
                  <a:srgbClr val="202020"/>
                </a:solidFill>
              </a:rPr>
              <a:t>在规则评分基础上加入协同过滤、标签画像或更细粒度行为分析。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C2B657-BA0D-4E7E-A473-D77FD7CC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000500"/>
            <a:ext cx="5000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D3C35A-7B10-499E-8010-510D8BF7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171950"/>
            <a:ext cx="4581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高并发增强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0B8D10-194B-4931-8150-EFFAF0E7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552950"/>
            <a:ext cx="45815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020"/>
                </a:solidFill>
              </a:defRPr>
            </a:pPr>
            <a:r>
              <a:rPr sz="1500" b="0">
                <a:solidFill>
                  <a:srgbClr val="202020"/>
                </a:solidFill>
              </a:rPr>
              <a:t>引入消息队列削峰、缓存预热、压测报告和集群部署方案。</a:t>
            </a:r>
          </a:p>
        </p:txBody>
      </p:sp>
    </p:spTree>
    <p:extLst>
      <p:ext uri="{BB962C8B-B14F-4D97-AF65-F5344CB8AC3E}">
        <p14:creationId xmlns:p14="http://schemas.microsoft.com/office/powerpoint/2010/main" val="63321775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E65D55-DAB9-4421-8161-33F9AB46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总结与成员分工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C5D39-9BFB-44EF-864F-3A828FB6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成员分工覆盖架构、业务、前端、数据与测试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7D0B1-DC77-4514-B91D-94BF2E33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045A8-D860-48E1-B1AB-1D2064DE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2F1F9-BB33-4BAC-AC6D-781681A3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2381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58AC68-C414-47B0-9EA9-A0B2754C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407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成员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7841B-AA71-447B-9566-96D354B7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05075"/>
            <a:ext cx="19621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020"/>
                </a:solidFill>
              </a:defRPr>
            </a:pPr>
            <a:r>
              <a:rPr sz="1425" b="0">
                <a:solidFill>
                  <a:srgbClr val="202020"/>
                </a:solidFill>
              </a:rPr>
              <a:t>后端核心与系统架构</a:t>
            </a:r>
          </a:p>
          <a:p xmlns:a="http://schemas.openxmlformats.org/drawingml/2006/main">
            <a:pPr algn="l">
              <a:defRPr sz="1425" b="0">
                <a:solidFill>
                  <a:srgbClr val="202020"/>
                </a:solidFill>
              </a:defRPr>
            </a:pPr>
            <a:r>
              <a:rPr sz="1425" b="0">
                <a:solidFill>
                  <a:srgbClr val="202020"/>
                </a:solidFill>
              </a:rPr>
              <a:t>Spring Boot 搭建</a:t>
            </a:r>
          </a:p>
          <a:p xmlns:a="http://schemas.openxmlformats.org/drawingml/2006/main">
            <a:pPr algn="l">
              <a:defRPr sz="1425" b="0">
                <a:solidFill>
                  <a:srgbClr val="202020"/>
                </a:solidFill>
              </a:defRPr>
            </a:pPr>
            <a:r>
              <a:rPr sz="1425" b="0">
                <a:solidFill>
                  <a:srgbClr val="202020"/>
                </a:solidFill>
              </a:rPr>
              <a:t>JWT 与安全配置</a:t>
            </a:r>
          </a:p>
          <a:p xmlns:a="http://schemas.openxmlformats.org/drawingml/2006/main">
            <a:pPr algn="l">
              <a:defRPr sz="1425" b="0">
                <a:solidFill>
                  <a:srgbClr val="202020"/>
                </a:solidFill>
              </a:defRPr>
            </a:pPr>
            <a:r>
              <a:rPr sz="1425" b="0">
                <a:solidFill>
                  <a:srgbClr val="202020"/>
                </a:solidFill>
              </a:rPr>
              <a:t>统一响应和异常处理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A1BF41-CA95-4487-B2F3-50F070E1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952625"/>
            <a:ext cx="2381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FFF9CC-D950-49D7-844E-1D9A4119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2407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成员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74FB1F-424C-419D-84BF-221973DE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05075"/>
            <a:ext cx="19621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020"/>
                </a:solidFill>
              </a:defRPr>
            </a:pPr>
            <a:r>
              <a:rPr sz="1425" b="0">
                <a:solidFill>
                  <a:srgbClr val="202020"/>
                </a:solidFill>
              </a:rPr>
              <a:t>商品与订单模块</a:t>
            </a:r>
          </a:p>
          <a:p xmlns:a="http://schemas.openxmlformats.org/drawingml/2006/main">
            <a:pPr algn="l">
              <a:defRPr sz="1425" b="0">
                <a:solidFill>
                  <a:srgbClr val="202020"/>
                </a:solidFill>
              </a:defRPr>
            </a:pPr>
            <a:r>
              <a:rPr sz="1425" b="0">
                <a:solidFill>
                  <a:srgbClr val="202020"/>
                </a:solidFill>
              </a:rPr>
              <a:t>发布、搜索、收藏、审核</a:t>
            </a:r>
          </a:p>
          <a:p xmlns:a="http://schemas.openxmlformats.org/drawingml/2006/main">
            <a:pPr algn="l">
              <a:defRPr sz="1425" b="0">
                <a:solidFill>
                  <a:srgbClr val="202020"/>
                </a:solidFill>
              </a:defRPr>
            </a:pPr>
            <a:r>
              <a:rPr sz="1425" b="0">
                <a:solidFill>
                  <a:srgbClr val="202020"/>
                </a:solidFill>
              </a:rPr>
              <a:t>订单状态机</a:t>
            </a:r>
          </a:p>
          <a:p xmlns:a="http://schemas.openxmlformats.org/drawingml/2006/main">
            <a:pPr algn="l">
              <a:defRPr sz="1425" b="0">
                <a:solidFill>
                  <a:srgbClr val="202020"/>
                </a:solidFill>
              </a:defRPr>
            </a:pPr>
            <a:r>
              <a:rPr sz="1425" b="0">
                <a:solidFill>
                  <a:srgbClr val="202020"/>
                </a:solidFill>
              </a:rPr>
              <a:t>乐观锁防超卖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D39182-EF28-4F77-A52A-5B11493A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52625"/>
            <a:ext cx="2381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A93B42-B3ED-4312-9FF4-59349446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2407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成员 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40863F-16C0-49E4-B75E-CBDB4212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05075"/>
            <a:ext cx="19621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020"/>
                </a:solidFill>
              </a:defRPr>
            </a:pPr>
            <a:r>
              <a:rPr sz="1425" b="0">
                <a:solidFill>
                  <a:srgbClr val="202020"/>
                </a:solidFill>
              </a:rPr>
              <a:t>前端页面与交互</a:t>
            </a:r>
          </a:p>
          <a:p xmlns:a="http://schemas.openxmlformats.org/drawingml/2006/main">
            <a:pPr algn="l">
              <a:defRPr sz="1425" b="0">
                <a:solidFill>
                  <a:srgbClr val="202020"/>
                </a:solidFill>
              </a:defRPr>
            </a:pPr>
            <a:r>
              <a:rPr sz="1425" b="0">
                <a:solidFill>
                  <a:srgbClr val="202020"/>
                </a:solidFill>
              </a:rPr>
              <a:t>Vue3 工程</a:t>
            </a:r>
          </a:p>
          <a:p xmlns:a="http://schemas.openxmlformats.org/drawingml/2006/main">
            <a:pPr algn="l">
              <a:defRPr sz="1425" b="0">
                <a:solidFill>
                  <a:srgbClr val="202020"/>
                </a:solidFill>
              </a:defRPr>
            </a:pPr>
            <a:r>
              <a:rPr sz="1425" b="0">
                <a:solidFill>
                  <a:srgbClr val="202020"/>
                </a:solidFill>
              </a:rPr>
              <a:t>首页、详情、订单、消息</a:t>
            </a:r>
          </a:p>
          <a:p xmlns:a="http://schemas.openxmlformats.org/drawingml/2006/main">
            <a:pPr algn="l">
              <a:defRPr sz="1425" b="0">
                <a:solidFill>
                  <a:srgbClr val="202020"/>
                </a:solidFill>
              </a:defRPr>
            </a:pPr>
            <a:r>
              <a:rPr sz="1425" b="0">
                <a:solidFill>
                  <a:srgbClr val="202020"/>
                </a:solidFill>
              </a:rPr>
              <a:t>路由守卫和交互优化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F96B82-CEB9-4FA8-B64B-526C4341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381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FE8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7F7D38-5305-44DF-AF2B-0CB61C0C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2407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成员 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9EAFC1-DA99-49D4-9EA7-6545F856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05075"/>
            <a:ext cx="19621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020"/>
                </a:solidFill>
              </a:defRPr>
            </a:pPr>
            <a:r>
              <a:rPr sz="1425" b="0">
                <a:solidFill>
                  <a:srgbClr val="202020"/>
                </a:solidFill>
              </a:rPr>
              <a:t>推荐算法、数据库与测试</a:t>
            </a:r>
          </a:p>
          <a:p xmlns:a="http://schemas.openxmlformats.org/drawingml/2006/main">
            <a:pPr algn="l">
              <a:defRPr sz="1425" b="0">
                <a:solidFill>
                  <a:srgbClr val="202020"/>
                </a:solidFill>
              </a:defRPr>
            </a:pPr>
            <a:r>
              <a:rPr sz="1425" b="0">
                <a:solidFill>
                  <a:srgbClr val="202020"/>
                </a:solidFill>
              </a:rPr>
              <a:t>表结构与种子数据</a:t>
            </a:r>
          </a:p>
          <a:p xmlns:a="http://schemas.openxmlformats.org/drawingml/2006/main">
            <a:pPr algn="l">
              <a:defRPr sz="1425" b="0">
                <a:solidFill>
                  <a:srgbClr val="202020"/>
                </a:solidFill>
              </a:defRPr>
            </a:pPr>
            <a:r>
              <a:rPr sz="1425" b="0">
                <a:solidFill>
                  <a:srgbClr val="202020"/>
                </a:solidFill>
              </a:rPr>
              <a:t>推荐算法设计</a:t>
            </a:r>
          </a:p>
          <a:p xmlns:a="http://schemas.openxmlformats.org/drawingml/2006/main">
            <a:pPr algn="l">
              <a:defRPr sz="1425" b="0">
                <a:solidFill>
                  <a:srgbClr val="202020"/>
                </a:solidFill>
              </a:defRPr>
            </a:pPr>
            <a:r>
              <a:rPr sz="1425" b="0">
                <a:solidFill>
                  <a:srgbClr val="202020"/>
                </a:solidFill>
              </a:rPr>
              <a:t>测试用例和答辩文档</a:t>
            </a:r>
          </a:p>
        </p:txBody>
      </p:sp>
    </p:spTree>
    <p:extLst>
      <p:ext uri="{BB962C8B-B14F-4D97-AF65-F5344CB8AC3E}">
        <p14:creationId xmlns:p14="http://schemas.microsoft.com/office/powerpoint/2010/main" val="168078489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BA48E9-5999-444F-A5AF-A783A183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11111"/>
                </a:solidFill>
              </a:defRPr>
            </a:pPr>
            <a:r>
              <a:rPr sz="5400" b="1">
                <a:solidFill>
                  <a:srgbClr val="111111"/>
                </a:solidFill>
              </a:rPr>
              <a:t>谢谢观看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9CEFA-D7CA-48A0-85CE-1D833234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</a:defRPr>
            </a:pPr>
            <a:r>
              <a:rPr sz="2100" b="0">
                <a:solidFill>
                  <a:srgbClr val="555555"/>
                </a:solidFill>
              </a:rPr>
              <a:t>欢迎老师批评指正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BCB32-3BA0-44FF-9677-E27CE0C7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38625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17B0E-D18F-4C6B-B28F-7502177C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校园二手物品交易平台的设计与实现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C9802-24D1-44B3-801F-A66110CC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Vue3 + Spring Boot + MySQL + Redis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783B6-3FF8-4540-82CA-1F918713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0"/>
            <a:ext cx="247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A8F503-7015-4C1B-8A96-8EA43123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9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8258060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2026-07-09T09:09:27.1160000Z</dcterms:created>
  <dcterms:modified xsi:type="dcterms:W3CDTF">2026-07-09T09:09:27.1160000Z</dcterms:modified>
</coreProperties>
</file>