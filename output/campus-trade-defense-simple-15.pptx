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3d966f343a4171" /><Relationship Type="http://schemas.openxmlformats.org/officeDocument/2006/relationships/extended-properties" Target="/docProps/app.xml" Id="R52f1d21fa3624181" /><Relationship Type="http://schemas.openxmlformats.org/officeDocument/2006/relationships/officeDocument" Target="/ppt/presentation.xml" Id="R9ae0b1207d8045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6dd3550eec4db4"/>
  </p:sldMasterIdLst>
  <p:notesMasterIdLst>
    <p:notesMasterId xmlns:r="http://schemas.openxmlformats.org/officeDocument/2006/relationships" r:id="R26f18721ae534965"/>
  </p:notesMasterIdLst>
  <p:sldIdLst>
    <p:sldId xmlns:r="http://schemas.openxmlformats.org/officeDocument/2006/relationships" id="256" r:id="R432e6d4143134e64"/>
    <p:sldId xmlns:r="http://schemas.openxmlformats.org/officeDocument/2006/relationships" id="257" r:id="R0b632c81d1ac48c2"/>
    <p:sldId xmlns:r="http://schemas.openxmlformats.org/officeDocument/2006/relationships" id="258" r:id="R9926368ff9e74448"/>
    <p:sldId xmlns:r="http://schemas.openxmlformats.org/officeDocument/2006/relationships" id="259" r:id="R33053d569d524625"/>
    <p:sldId xmlns:r="http://schemas.openxmlformats.org/officeDocument/2006/relationships" id="260" r:id="R464887ad20fd4025"/>
    <p:sldId xmlns:r="http://schemas.openxmlformats.org/officeDocument/2006/relationships" id="261" r:id="R2ead3c16d1584b99"/>
    <p:sldId xmlns:r="http://schemas.openxmlformats.org/officeDocument/2006/relationships" id="262" r:id="Rff73d8009a60451f"/>
    <p:sldId xmlns:r="http://schemas.openxmlformats.org/officeDocument/2006/relationships" id="263" r:id="R968c58baa2a8435a"/>
    <p:sldId xmlns:r="http://schemas.openxmlformats.org/officeDocument/2006/relationships" id="264" r:id="Re23f4d264f1d4209"/>
    <p:sldId xmlns:r="http://schemas.openxmlformats.org/officeDocument/2006/relationships" id="265" r:id="R5bd6eeaafefd4c2c"/>
    <p:sldId xmlns:r="http://schemas.openxmlformats.org/officeDocument/2006/relationships" id="266" r:id="Rfd74e4ee1be24412"/>
    <p:sldId xmlns:r="http://schemas.openxmlformats.org/officeDocument/2006/relationships" id="267" r:id="Re353feba286c4c8a"/>
    <p:sldId xmlns:r="http://schemas.openxmlformats.org/officeDocument/2006/relationships" id="268" r:id="R8e106902d2e94f96"/>
    <p:sldId xmlns:r="http://schemas.openxmlformats.org/officeDocument/2006/relationships" id="269" r:id="R19bbfd859e5646ed"/>
    <p:sldId xmlns:r="http://schemas.openxmlformats.org/officeDocument/2006/relationships" id="270" r:id="Rc4fcda9d1811430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138a75dbde4c0a" /><Relationship Type="http://schemas.openxmlformats.org/officeDocument/2006/relationships/slideMaster" Target="/ppt/slideMasters/slideMaster1.xml" Id="Ra86dd3550eec4db4" /><Relationship Type="http://schemas.openxmlformats.org/officeDocument/2006/relationships/notesMaster" Target="/ppt/notesMasters/notesMaster1.xml" Id="R26f18721ae534965" /><Relationship Type="http://schemas.openxmlformats.org/officeDocument/2006/relationships/presProps" Target="/ppt/presProps.xml" Id="R7f7c894a94314877" /><Relationship Type="http://schemas.openxmlformats.org/officeDocument/2006/relationships/tableStyles" Target="/ppt/tableStyles.xml" Id="Rf04e7833e9dc44ed" /><Relationship Type="http://schemas.openxmlformats.org/officeDocument/2006/relationships/slide" Target="/ppt/slides/slide1.xml" Id="R432e6d4143134e64" /><Relationship Type="http://schemas.openxmlformats.org/officeDocument/2006/relationships/slide" Target="/ppt/slides/slide2.xml" Id="R0b632c81d1ac48c2" /><Relationship Type="http://schemas.openxmlformats.org/officeDocument/2006/relationships/slide" Target="/ppt/slides/slide3.xml" Id="R9926368ff9e74448" /><Relationship Type="http://schemas.openxmlformats.org/officeDocument/2006/relationships/slide" Target="/ppt/slides/slide4.xml" Id="R33053d569d524625" /><Relationship Type="http://schemas.openxmlformats.org/officeDocument/2006/relationships/slide" Target="/ppt/slides/slide5.xml" Id="R464887ad20fd4025" /><Relationship Type="http://schemas.openxmlformats.org/officeDocument/2006/relationships/slide" Target="/ppt/slides/slide6.xml" Id="R2ead3c16d1584b99" /><Relationship Type="http://schemas.openxmlformats.org/officeDocument/2006/relationships/slide" Target="/ppt/slides/slide7.xml" Id="Rff73d8009a60451f" /><Relationship Type="http://schemas.openxmlformats.org/officeDocument/2006/relationships/slide" Target="/ppt/slides/slide8.xml" Id="R968c58baa2a8435a" /><Relationship Type="http://schemas.openxmlformats.org/officeDocument/2006/relationships/slide" Target="/ppt/slides/slide9.xml" Id="Re23f4d264f1d4209" /><Relationship Type="http://schemas.openxmlformats.org/officeDocument/2006/relationships/slide" Target="/ppt/slides/slide10.xml" Id="R5bd6eeaafefd4c2c" /><Relationship Type="http://schemas.openxmlformats.org/officeDocument/2006/relationships/slide" Target="/ppt/slides/slide11.xml" Id="Rfd74e4ee1be24412" /><Relationship Type="http://schemas.openxmlformats.org/officeDocument/2006/relationships/slide" Target="/ppt/slides/slide12.xml" Id="Re353feba286c4c8a" /><Relationship Type="http://schemas.openxmlformats.org/officeDocument/2006/relationships/slide" Target="/ppt/slides/slide13.xml" Id="R8e106902d2e94f96" /><Relationship Type="http://schemas.openxmlformats.org/officeDocument/2006/relationships/slide" Target="/ppt/slides/slide14.xml" Id="R19bbfd859e5646ed" /><Relationship Type="http://schemas.openxmlformats.org/officeDocument/2006/relationships/slide" Target="/ppt/slides/slide15.xml" Id="Rc4fcda9d181143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353a96c55542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bc59a9a2734f30" /><Relationship Type="http://schemas.openxmlformats.org/officeDocument/2006/relationships/notesMaster" Target="/ppt/notesMasters/notesMaster1.xml" Id="R708507bdf3bf4d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e44b56b8784ff2" /><Relationship Type="http://schemas.openxmlformats.org/officeDocument/2006/relationships/notesMaster" Target="/ppt/notesMasters/notesMaster1.xml" Id="Red9aefccf50445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d48a33cf844a90" /><Relationship Type="http://schemas.openxmlformats.org/officeDocument/2006/relationships/notesMaster" Target="/ppt/notesMasters/notesMaster1.xml" Id="R2b6d1f0bfa5a4a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d79b744ac842ee" /><Relationship Type="http://schemas.openxmlformats.org/officeDocument/2006/relationships/notesMaster" Target="/ppt/notesMasters/notesMaster1.xml" Id="R5415aff5d2e040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11ade2c1974614" /><Relationship Type="http://schemas.openxmlformats.org/officeDocument/2006/relationships/notesMaster" Target="/ppt/notesMasters/notesMaster1.xml" Id="R7cdf00cffae546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e7a60b09aa45f9" /><Relationship Type="http://schemas.openxmlformats.org/officeDocument/2006/relationships/notesMaster" Target="/ppt/notesMasters/notesMaster1.xml" Id="Rcf5b7b58d92641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780d1f496c41dd" /><Relationship Type="http://schemas.openxmlformats.org/officeDocument/2006/relationships/notesMaster" Target="/ppt/notesMasters/notesMaster1.xml" Id="R67369f67447a43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e4c5143a3d410c" /><Relationship Type="http://schemas.openxmlformats.org/officeDocument/2006/relationships/notesMaster" Target="/ppt/notesMasters/notesMaster1.xml" Id="R99ffb2a4142f42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45b7b5b33e4698" /><Relationship Type="http://schemas.openxmlformats.org/officeDocument/2006/relationships/notesMaster" Target="/ppt/notesMasters/notesMaster1.xml" Id="R0117b4ab88df40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c4af466d0db4ce1" /><Relationship Type="http://schemas.openxmlformats.org/officeDocument/2006/relationships/notesMaster" Target="/ppt/notesMasters/notesMaster1.xml" Id="R3e2f2185d17c4a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dd2d492aa184e54" /><Relationship Type="http://schemas.openxmlformats.org/officeDocument/2006/relationships/notesMaster" Target="/ppt/notesMasters/notesMaster1.xml" Id="Rfef0b44d2362420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b5024d04ab546a6" /><Relationship Type="http://schemas.openxmlformats.org/officeDocument/2006/relationships/notesMaster" Target="/ppt/notesMasters/notesMaster1.xml" Id="R43bd2ace9758418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d5b27eda34e4de9" /><Relationship Type="http://schemas.openxmlformats.org/officeDocument/2006/relationships/notesMaster" Target="/ppt/notesMasters/notesMaster1.xml" Id="R09da3537ce1e409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6361cea19a14778" /><Relationship Type="http://schemas.openxmlformats.org/officeDocument/2006/relationships/notesMaster" Target="/ppt/notesMasters/notesMaster1.xml" Id="Re1313285ae754ef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2e9d63c046a4f11" /><Relationship Type="http://schemas.openxmlformats.org/officeDocument/2006/relationships/notesMaster" Target="/ppt/notesMasters/notesMaster1.xml" Id="R5e78d819c24d47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4702106bef4d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6226abf9e043c7" /><Relationship Type="http://schemas.openxmlformats.org/officeDocument/2006/relationships/slideLayout" Target="/ppt/slideLayouts/slideLayout1.xml" Id="Re3519418e25447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519418e25447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cc436d01064ebf" /><Relationship Type="http://schemas.openxmlformats.org/officeDocument/2006/relationships/image" Target="/ppt/media/image.png" Id="Ra7eff55636fc41c0" /><Relationship Type="http://schemas.openxmlformats.org/officeDocument/2006/relationships/notesSlide" Target="/ppt/notesSlides/notesSlide1.xml" Id="R4a7279643cf54f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bb7250ced48f0" /><Relationship Type="http://schemas.openxmlformats.org/officeDocument/2006/relationships/image" Target="/ppt/media/image2.png" Id="Rf998baf708b64e4d" /><Relationship Type="http://schemas.openxmlformats.org/officeDocument/2006/relationships/notesSlide" Target="/ppt/notesSlides/notesSlide2.xml" Id="Rf3e329e641e140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f9909b1bf4368" /><Relationship Type="http://schemas.openxmlformats.org/officeDocument/2006/relationships/image" Target="/ppt/media/image3.png" Id="R95f892d01f6e4538" /><Relationship Type="http://schemas.openxmlformats.org/officeDocument/2006/relationships/notesSlide" Target="/ppt/notesSlides/notesSlide3.xml" Id="Rd268da5c1e0240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97101217c54a5d" /><Relationship Type="http://schemas.openxmlformats.org/officeDocument/2006/relationships/image" Target="/ppt/media/image4.png" Id="R821186c762ef44c2" /><Relationship Type="http://schemas.openxmlformats.org/officeDocument/2006/relationships/image" Target="/ppt/media/image5.png" Id="R6afef51d46264954" /><Relationship Type="http://schemas.openxmlformats.org/officeDocument/2006/relationships/notesSlide" Target="/ppt/notesSlides/notesSlide4.xml" Id="R605ad8b7d43842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41122830e420e" /><Relationship Type="http://schemas.openxmlformats.org/officeDocument/2006/relationships/image" Target="/ppt/media/image6.png" Id="R91527b23686345f9" /><Relationship Type="http://schemas.openxmlformats.org/officeDocument/2006/relationships/image" Target="/ppt/media/image7.png" Id="R0ebfe3ce11bc44ba" /><Relationship Type="http://schemas.openxmlformats.org/officeDocument/2006/relationships/notesSlide" Target="/ppt/notesSlides/notesSlide5.xml" Id="R0e7a573166e243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480985c374035" /><Relationship Type="http://schemas.openxmlformats.org/officeDocument/2006/relationships/image" Target="/ppt/media/image8.png" Id="Rff1b295ca3fd4a27" /><Relationship Type="http://schemas.openxmlformats.org/officeDocument/2006/relationships/notesSlide" Target="/ppt/notesSlides/notesSlide6.xml" Id="R50d4b2fbac5247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3c81e436744e7" /><Relationship Type="http://schemas.openxmlformats.org/officeDocument/2006/relationships/image" Target="/ppt/media/image9.png" Id="R2d68158712d74d67" /><Relationship Type="http://schemas.openxmlformats.org/officeDocument/2006/relationships/notesSlide" Target="/ppt/notesSlides/notesSlide7.xml" Id="Rf14d0e0a9dd749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a8d0d938bc40ae" /><Relationship Type="http://schemas.openxmlformats.org/officeDocument/2006/relationships/image" Target="/ppt/media/image10.png" Id="R36a147a472784f2c" /><Relationship Type="http://schemas.openxmlformats.org/officeDocument/2006/relationships/notesSlide" Target="/ppt/notesSlides/notesSlide8.xml" Id="R62712daf441d48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5b2900bf44df7" /><Relationship Type="http://schemas.openxmlformats.org/officeDocument/2006/relationships/image" Target="/ppt/media/image11.png" Id="Ra980693cf956415d" /><Relationship Type="http://schemas.openxmlformats.org/officeDocument/2006/relationships/notesSlide" Target="/ppt/notesSlides/notesSlide9.xml" Id="R51356f9b7ee940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c4d279a347400c" /><Relationship Type="http://schemas.openxmlformats.org/officeDocument/2006/relationships/image" Target="/ppt/media/image12.png" Id="Rcef6c4fe03724022" /><Relationship Type="http://schemas.openxmlformats.org/officeDocument/2006/relationships/notesSlide" Target="/ppt/notesSlides/notesSlide10.xml" Id="R635dcfd194144c5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e508f25794813" /><Relationship Type="http://schemas.openxmlformats.org/officeDocument/2006/relationships/image" Target="/ppt/media/image13.png" Id="R081be811398f4786" /><Relationship Type="http://schemas.openxmlformats.org/officeDocument/2006/relationships/image" Target="/ppt/media/image14.png" Id="R02f5c185e02f4c37" /><Relationship Type="http://schemas.openxmlformats.org/officeDocument/2006/relationships/notesSlide" Target="/ppt/notesSlides/notesSlide11.xml" Id="Rf9e00bdbeef14c3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fa7f4eaaa47c8" /><Relationship Type="http://schemas.openxmlformats.org/officeDocument/2006/relationships/image" Target="/ppt/media/image15.png" Id="Rf3ab9d549eea434a" /><Relationship Type="http://schemas.openxmlformats.org/officeDocument/2006/relationships/image" Target="/ppt/media/image16.png" Id="Ree32f1177a6e481b" /><Relationship Type="http://schemas.openxmlformats.org/officeDocument/2006/relationships/notesSlide" Target="/ppt/notesSlides/notesSlide12.xml" Id="R9c28fc8a1dc6432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a68009d184d83" /><Relationship Type="http://schemas.openxmlformats.org/officeDocument/2006/relationships/image" Target="/ppt/media/image17.png" Id="Rd78db6b6d2c54165" /><Relationship Type="http://schemas.openxmlformats.org/officeDocument/2006/relationships/image" Target="/ppt/media/image18.png" Id="R7fce0108c6c84700" /><Relationship Type="http://schemas.openxmlformats.org/officeDocument/2006/relationships/image" Target="/ppt/media/image19.png" Id="R25925cb7d5324dfb" /><Relationship Type="http://schemas.openxmlformats.org/officeDocument/2006/relationships/notesSlide" Target="/ppt/notesSlides/notesSlide13.xml" Id="R157ef88a6b014e3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6edccbf054a13" /><Relationship Type="http://schemas.openxmlformats.org/officeDocument/2006/relationships/image" Target="/ppt/media/image20.png" Id="Raf23ad78fd9348b1" /><Relationship Type="http://schemas.openxmlformats.org/officeDocument/2006/relationships/image" Target="/ppt/media/image21.png" Id="R227cd79d83e748e8" /><Relationship Type="http://schemas.openxmlformats.org/officeDocument/2006/relationships/image" Target="/ppt/media/image22.png" Id="Rb0d4d01d201c4b71" /><Relationship Type="http://schemas.openxmlformats.org/officeDocument/2006/relationships/image" Target="/ppt/media/image23.png" Id="Rbec286faca7e4b53" /><Relationship Type="http://schemas.openxmlformats.org/officeDocument/2006/relationships/notesSlide" Target="/ppt/notesSlides/notesSlide14.xml" Id="Rdedc4613dc344fa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7f0b937fe4cd0" /><Relationship Type="http://schemas.openxmlformats.org/officeDocument/2006/relationships/image" Target="/ppt/media/image24.png" Id="R9fb2617322214d37" /><Relationship Type="http://schemas.openxmlformats.org/officeDocument/2006/relationships/image" Target="/ppt/media/image25.png" Id="R9d669752120d4f42" /><Relationship Type="http://schemas.openxmlformats.org/officeDocument/2006/relationships/image" Target="/ppt/media/image26.png" Id="R241ab4b63cf54bde" /><Relationship Type="http://schemas.openxmlformats.org/officeDocument/2006/relationships/image" Target="/ppt/media/image27.png" Id="R45d710c32fc24139" /><Relationship Type="http://schemas.openxmlformats.org/officeDocument/2006/relationships/notesSlide" Target="/ppt/notesSlides/notesSlide15.xml" Id="R12bc5976324944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D27AE9-D699-455D-A28E-A10CCD98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E6FFF"/>
                </a:solidFill>
              </a:defRPr>
            </a:pPr>
            <a:r>
              <a:rPr sz="1200" b="1">
                <a:solidFill>
                  <a:srgbClr val="1E6FFF"/>
                </a:solidFill>
              </a:rPr>
              <a:t>软件与理论综合设计与实践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54A487-15FF-43D4-AF1C-3EE82282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6000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F172A"/>
                </a:solidFill>
              </a:defRPr>
            </a:pPr>
            <a:r>
              <a:rPr sz="3900" b="1">
                <a:solidFill>
                  <a:srgbClr val="0F172A"/>
                </a:solidFill>
              </a:rPr>
              <a:t>校园二手物品交易平台的设计与实现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43F9A2-C518-4A30-A5E3-AF56A614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4748B"/>
                </a:solidFill>
              </a:defRPr>
            </a:pPr>
            <a:r>
              <a:rPr sz="1800" b="0">
                <a:solidFill>
                  <a:srgbClr val="64748B"/>
                </a:solidFill>
              </a:rPr>
              <a:t>Vue3 + Spring Boot + MySQL + Redis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33184-4E24-4F03-B01C-306EB7B8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86375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项目答辩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68242-F00E-45B0-AAF4-CE8DC12B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769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指导教师：徐士伟 / 小组成员 / 日期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B6CEC-A217-4EA2-A88C-37974123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333500"/>
            <a:ext cx="4476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eff55636fc41c0"/>
          <a:stretch xmlns:a="http://schemas.openxmlformats.org/drawingml/2006/main"/>
        </p:blipFill>
        <p:spPr>
          <a:xfrm xmlns:a="http://schemas.openxmlformats.org/drawingml/2006/main">
            <a:off x="7029450" y="1778379"/>
            <a:ext cx="4324350" cy="2062993"/>
          </a:xfrm>
          <a:prstGeom xmlns:a="http://schemas.openxmlformats.org/drawingml/2006/main" prst="roundRect">
            <a:avLst>
              <a:gd name="adj" fmla="val 272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F078D-F6D2-4B36-910A-1CFAB8C3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041234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FAFAC3-B282-468A-94D7-68391BAB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FFF"/>
                </a:solidFill>
              </a:defRPr>
            </a:pPr>
            <a:r>
              <a:rPr sz="1050" b="1">
                <a:solidFill>
                  <a:srgbClr val="1E6FFF"/>
                </a:solidFill>
              </a:rPr>
              <a:t>第一章 项目简介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2C795C-0F91-4021-A23C-C32C60E0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项目严格对齐指导书给出的技术栈和功能范围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D56B3-5DC1-4D6B-9841-6698B7B3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11025-D444-4AD9-AFCA-4924BE79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2315E-612D-477B-8F63-DF622316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05C9B-6403-4680-BFED-92103FDA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636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项目题目：校园二手物品交易平台的设计与实现。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D8CB7D-9558-4CED-B304-CBB84B83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1E0F1F-AA90-4E4A-96FA-1C0CCC2B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636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技术要求：Vue3 + Spring Boot + MySQL + Redis，采用前后端分离架构。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13B6DE-3E6D-411C-8ADF-02EA2898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28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BAE876-7CAB-4266-BD49-49261E94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636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安全要求：JWT + Spring Security 实现用户认证与授权。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A0ABF0-62FC-4416-A987-5493991D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00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D3305A-CBA7-4A0C-94EC-4F06A1C2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636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功能要求：覆盖用户、商品、订单、消息、后台管理，并扩展推荐、敏感词和举报处理。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DD025B-FA92-4DB5-AACE-8F1BE32E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57375"/>
            <a:ext cx="3143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3AA8C2-0702-45C0-9702-0271E116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145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6FFF"/>
                </a:solidFill>
              </a:defRPr>
            </a:pPr>
            <a:r>
              <a:rPr sz="1800" b="1">
                <a:solidFill>
                  <a:srgbClr val="1E6FFF"/>
                </a:solidFill>
              </a:rPr>
              <a:t>指导书关键词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96852E-ACAB-4E54-9626-B1115323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247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应用系统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项目难度 B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建议 3-4 人</a:t>
            </a:r>
          </a:p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校园 C2C 交易平台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9D3DCE-2036-4738-8064-E87EA514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57700"/>
            <a:ext cx="3905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98baf708b64e4d"/>
          <a:stretch xmlns:a="http://schemas.openxmlformats.org/drawingml/2006/main"/>
        </p:blipFill>
        <p:spPr>
          <a:xfrm xmlns:a="http://schemas.openxmlformats.org/drawingml/2006/main">
            <a:off x="7553325" y="4595611"/>
            <a:ext cx="3752850" cy="543329"/>
          </a:xfrm>
          <a:prstGeom xmlns:a="http://schemas.openxmlformats.org/drawingml/2006/main" prst="roundRect">
            <a:avLst>
              <a:gd name="adj" fmla="val 11429"/>
            </a:avLst>
          </a:prstGeom>
        </p:spPr>
      </p:pic>
    </p:spTree>
    <p:extLst>
      <p:ext uri="{BB962C8B-B14F-4D97-AF65-F5344CB8AC3E}">
        <p14:creationId xmlns:p14="http://schemas.microsoft.com/office/powerpoint/2010/main" val="15455500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93FF36-D467-474F-8691-B2C1AAB1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FFF"/>
                </a:solidFill>
              </a:defRPr>
            </a:pPr>
            <a:r>
              <a:rPr sz="1050" b="1">
                <a:solidFill>
                  <a:srgbClr val="1E6FFF"/>
                </a:solidFill>
              </a:rPr>
              <a:t>第一章 项目简介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1C4668-2299-4CCB-BA1E-AA57FB27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平台把校园闲置交易整理成一个可追踪闭环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6493C-B2B1-43CD-BBF3-26CBC506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5C1E0-0762-406F-8F9E-5338A83C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1012D-B506-4DC7-B028-E363E298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95450"/>
            <a:ext cx="5429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892d01f6e4538"/>
          <a:stretch xmlns:a="http://schemas.openxmlformats.org/drawingml/2006/main"/>
        </p:blipFill>
        <p:spPr>
          <a:xfrm xmlns:a="http://schemas.openxmlformats.org/drawingml/2006/main">
            <a:off x="5886450" y="2238172"/>
            <a:ext cx="5276850" cy="1295806"/>
          </a:xfrm>
          <a:prstGeom xmlns:a="http://schemas.openxmlformats.org/drawingml/2006/main" prst="roundRect">
            <a:avLst>
              <a:gd name="adj" fmla="val 341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888F6C-5F79-48E5-A8DE-1B12CAC2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1028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B5EF68-F92F-4CB9-A844-59F69DC5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193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注册登录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F581D0-A6C7-4BD8-BA36-321BDCB6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000250"/>
            <a:ext cx="1028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2EDA3B-B0D1-4DD5-9051-E824C758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2193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发布商品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EDDB79-4D98-446B-A22C-533CDD19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00250"/>
            <a:ext cx="1028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7A1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2C7725-D34C-4A7B-9474-76F4F5D8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193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7A1A"/>
                </a:solidFill>
              </a:defRPr>
            </a:pPr>
            <a:r>
              <a:rPr sz="1275" b="1">
                <a:solidFill>
                  <a:srgbClr val="FF7A1A"/>
                </a:solidFill>
              </a:rPr>
              <a:t>管理员审核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A9132D-B02F-4E35-AEFE-D8750EA4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00250"/>
            <a:ext cx="1028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C46901-39F8-4F08-9A8F-5650C2B7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1932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搜索浏览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F31E14-EF72-4C21-9301-50951230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0"/>
            <a:ext cx="1028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0FB44E-A5CE-4B40-A648-8F1EB8DA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5757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下单支付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81C222-F495-47A1-9101-8602BF81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238500"/>
            <a:ext cx="1028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88EA44-6839-4F95-A8F3-E27AEAB3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45757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发货收货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485CF7-BBBC-4751-8EDB-A0B606E3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38500"/>
            <a:ext cx="1028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39949E-8FD1-4D10-8D6D-75F116DB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5757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消息留痕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BEF0A0-5F8B-47DC-A343-85F6BB0A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38500"/>
            <a:ext cx="1028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A06359-A9F6-4D27-8E61-17FBA36B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5757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后台管理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DC45F3-829B-4EC6-BC8A-6585B39B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解决的问题：信息分散、搜索困难、流程不规范、交易缺少留痕。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079B57-CC28-4F6A-A802-499C1269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1020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市场页体现了搜索、分类、结果统计和发布入口，是业务闭环的主要入口。</a:t>
            </a:r>
          </a:p>
        </p:txBody>
      </p:sp>
    </p:spTree>
    <p:extLst>
      <p:ext uri="{BB962C8B-B14F-4D97-AF65-F5344CB8AC3E}">
        <p14:creationId xmlns:p14="http://schemas.microsoft.com/office/powerpoint/2010/main" val="15532928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9512C5-C93D-4D5B-8014-289A7E3E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FFF"/>
                </a:solidFill>
              </a:defRPr>
            </a:pPr>
            <a:r>
              <a:rPr sz="1050" b="1">
                <a:solidFill>
                  <a:srgbClr val="1E6FFF"/>
                </a:solidFill>
              </a:rPr>
              <a:t>第一章 项目简介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77105-F894-46B4-AAC1-7002E075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功能模块覆盖用户端、交易端和管理端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8A43E-673A-40A6-977E-4D2D6A58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0730BC-510A-4809-949A-E67334CB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DC684-F249-4687-BDDC-0E54A4B2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5334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1186c762ef44c2"/>
          <a:stretch xmlns:a="http://schemas.openxmlformats.org/drawingml/2006/main"/>
        </p:blipFill>
        <p:spPr>
          <a:xfrm xmlns:a="http://schemas.openxmlformats.org/drawingml/2006/main">
            <a:off x="590550" y="1958535"/>
            <a:ext cx="5181600" cy="750180"/>
          </a:xfrm>
          <a:prstGeom xmlns:a="http://schemas.openxmlformats.org/drawingml/2006/main" prst="roundRect">
            <a:avLst>
              <a:gd name="adj" fmla="val 769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58AD6-C9A4-4712-B02C-9809FD01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95450"/>
            <a:ext cx="3143250" cy="3619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fef51d46264954"/>
          <a:stretch xmlns:a="http://schemas.openxmlformats.org/drawingml/2006/main"/>
        </p:blipFill>
        <p:spPr>
          <a:xfrm xmlns:a="http://schemas.openxmlformats.org/drawingml/2006/main">
            <a:off x="8047911" y="1771650"/>
            <a:ext cx="2668429" cy="3467100"/>
          </a:xfrm>
          <a:prstGeom xmlns:a="http://schemas.openxmlformats.org/drawingml/2006/main" prst="roundRect">
            <a:avLst>
              <a:gd name="adj" fmla="val 254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61C56-C0C3-4B5E-AA07-0FAA4294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6FFF"/>
                </a:solidFill>
              </a:defRPr>
            </a:pPr>
            <a:r>
              <a:rPr sz="1650" b="1">
                <a:solidFill>
                  <a:srgbClr val="1E6FFF"/>
                </a:solidFill>
              </a:rPr>
              <a:t>用户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BCBD49-1D12-4DE6-9DF9-A1AC0CC8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528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注册登录、个人中心、地址管理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2E794-BE36-452B-BC20-A1B3DFDA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333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6FFF"/>
                </a:solidFill>
              </a:defRPr>
            </a:pPr>
            <a:r>
              <a:rPr sz="1650" b="1">
                <a:solidFill>
                  <a:srgbClr val="1E6FFF"/>
                </a:solidFill>
              </a:rPr>
              <a:t>商品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DD0121-CAA3-4DE4-B1C8-3828EDF6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3528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发布、分类、搜索、收藏、上下架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A111B6-3C57-4D04-B77B-C7058F02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767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6FFF"/>
                </a:solidFill>
              </a:defRPr>
            </a:pPr>
            <a:r>
              <a:rPr sz="1650" b="1">
                <a:solidFill>
                  <a:srgbClr val="1E6FFF"/>
                </a:solidFill>
              </a:rPr>
              <a:t>订单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A2AD0E-4F72-4F8C-BBF4-C19012FF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95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下单、支付、发货、收货、取消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C2E3BA-968D-41BD-89AD-7A87539E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0767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6FFF"/>
                </a:solidFill>
              </a:defRPr>
            </a:pPr>
            <a:r>
              <a:rPr sz="1650" b="1">
                <a:solidFill>
                  <a:srgbClr val="1E6FFF"/>
                </a:solidFill>
              </a:rPr>
              <a:t>消息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B84D66-922C-4497-B023-4C6CAB37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95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交易沟通、系统通知、已读未读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A5C063-1512-4B45-A69B-32EC239D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96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6FFF"/>
                </a:solidFill>
              </a:defRPr>
            </a:pPr>
            <a:r>
              <a:rPr sz="1650" b="1">
                <a:solidFill>
                  <a:srgbClr val="1E6FFF"/>
                </a:solidFill>
              </a:rPr>
              <a:t>后台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D0A960-4DBE-404B-B034-C6A31E06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387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数据概览、审核、用户、订单、公告</a:t>
            </a:r>
          </a:p>
        </p:txBody>
      </p:sp>
    </p:spTree>
    <p:extLst>
      <p:ext uri="{BB962C8B-B14F-4D97-AF65-F5344CB8AC3E}">
        <p14:creationId xmlns:p14="http://schemas.microsoft.com/office/powerpoint/2010/main" val="12485577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75D01A-480B-4954-97DF-0C6E2ED4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FFF"/>
                </a:solidFill>
              </a:defRPr>
            </a:pPr>
            <a:r>
              <a:rPr sz="1050" b="1">
                <a:solidFill>
                  <a:srgbClr val="1E6FFF"/>
                </a:solidFill>
              </a:rPr>
              <a:t>第二章 重要设计与实现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3BE99-9AAB-445D-9E06-AE3FEEA8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推荐算法在首页直接形成商品曝光入口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EB52F-1C84-4721-BB3D-983AC9F8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BEA96-7552-4490-B2DE-2E8D6B74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DB967-D5FB-42DE-AFBC-DB78B3C7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5334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527b23686345f9"/>
          <a:stretch xmlns:a="http://schemas.openxmlformats.org/drawingml/2006/main"/>
        </p:blipFill>
        <p:spPr>
          <a:xfrm xmlns:a="http://schemas.openxmlformats.org/drawingml/2006/main">
            <a:off x="1021907" y="1838325"/>
            <a:ext cx="4318885" cy="1657350"/>
          </a:xfrm>
          <a:prstGeom xmlns:a="http://schemas.openxmlformats.org/drawingml/2006/main" prst="roundRect">
            <a:avLst>
              <a:gd name="adj" fmla="val 459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FB7EC2-D6EE-4D0E-B867-7342C348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53340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bfe3ce11bc44ba"/>
          <a:stretch xmlns:a="http://schemas.openxmlformats.org/drawingml/2006/main"/>
        </p:blipFill>
        <p:spPr>
          <a:xfrm xmlns:a="http://schemas.openxmlformats.org/drawingml/2006/main">
            <a:off x="1244661" y="3981450"/>
            <a:ext cx="3873378" cy="1847850"/>
          </a:xfrm>
          <a:prstGeom xmlns:a="http://schemas.openxmlformats.org/drawingml/2006/main" prst="roundRect">
            <a:avLst>
              <a:gd name="adj" fmla="val 412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44C927-E120-452B-A997-380E2277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907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设计目标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3ACA7B-2A09-4A5A-8374-9FF8311C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09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1D15E9-C625-4D60-9590-3DB36F92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33625"/>
            <a:ext cx="4267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新用户优先看到热门、新鲜商品。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490B29-B0EF-4F53-B8A1-C4708957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622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A4E97D-65C9-4A8F-A756-1E786A68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86075"/>
            <a:ext cx="4267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老用户根据搜索、浏览、收藏、购买形成个性化推荐。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158678-F03B-4820-9522-B71AC3A8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14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F8175B-D3EE-4A96-9296-5055520B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38525"/>
            <a:ext cx="4267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推荐结果带有价格、分类、浏览量和收藏入口，便于继续交易。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A646D-FC15-4D28-90AB-CEA287B8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5300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6FFF"/>
                </a:solidFill>
              </a:defRPr>
            </a:pPr>
            <a:r>
              <a:rPr sz="1800" b="1">
                <a:solidFill>
                  <a:srgbClr val="1E6FFF"/>
                </a:solidFill>
              </a:rPr>
              <a:t>页面上的“猜你喜欢”和“推荐好物”是推荐算法的前端落点。</a:t>
            </a:r>
          </a:p>
        </p:txBody>
      </p:sp>
    </p:spTree>
    <p:extLst>
      <p:ext uri="{BB962C8B-B14F-4D97-AF65-F5344CB8AC3E}">
        <p14:creationId xmlns:p14="http://schemas.microsoft.com/office/powerpoint/2010/main" val="2983785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5A5F90-8EAD-4EBB-89D4-DE26B84C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FFF"/>
                </a:solidFill>
              </a:defRPr>
            </a:pPr>
            <a:r>
              <a:rPr sz="1050" b="1">
                <a:solidFill>
                  <a:srgbClr val="1E6FFF"/>
                </a:solidFill>
              </a:rPr>
              <a:t>第二章 重要设计与实现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B1F7E-6376-461A-B16E-AC7D2AAD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推荐策略同时处理冷启动和个性化场景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922E51-FDEC-449F-BCF2-F7AE99A6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5C6D2-7682-4F09-B4AB-81B8B1C9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1AEE7-E37F-4C89-A732-B5ABBC1A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14500"/>
            <a:ext cx="3238500" cy="3762375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1b295ca3fd4a27"/>
          <a:stretch xmlns:a="http://schemas.openxmlformats.org/drawingml/2006/main"/>
        </p:blipFill>
        <p:spPr>
          <a:xfrm xmlns:a="http://schemas.openxmlformats.org/drawingml/2006/main">
            <a:off x="7564304" y="1790700"/>
            <a:ext cx="2778391" cy="3609975"/>
          </a:xfrm>
          <a:prstGeom xmlns:a="http://schemas.openxmlformats.org/drawingml/2006/main" prst="roundRect">
            <a:avLst>
              <a:gd name="adj" fmla="val 246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D3088-CFC3-425F-8C91-7BB2D24A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285750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940D0A-F6B3-4D2D-9176-119D4172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6FFF"/>
                </a:solidFill>
              </a:defRPr>
            </a:pPr>
            <a:r>
              <a:rPr sz="1800" b="1">
                <a:solidFill>
                  <a:srgbClr val="1E6FFF"/>
                </a:solidFill>
              </a:rPr>
              <a:t>冷启动推荐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35DF5D-3C8C-43F2-B07D-198D7BC8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面向未登录或无行为用户，依据浏览热度和发布时间排序。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3ED5F3-2398-4769-8267-E682E06B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952625"/>
            <a:ext cx="314325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3E0DD-F09C-44D2-8D0C-63F9C210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190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6FFF"/>
                </a:solidFill>
              </a:defRPr>
            </a:pPr>
            <a:r>
              <a:rPr sz="1800" b="1">
                <a:solidFill>
                  <a:srgbClr val="1E6FFF"/>
                </a:solidFill>
              </a:rPr>
              <a:t>个性化推荐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8ADAFE-92F5-4B8C-919B-DAADF568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6860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面向有行为用户，根据搜索、浏览、收藏、购买构建用户画像。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2AC4FF-352D-4DAD-9FEE-2D297615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590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0E9DB4-78D2-47E7-B14E-98EF20A4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行为权重：浏览 8 / 搜索 14 / 收藏 30 / 购买 45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46CAAC-5B07-4A6B-B694-6F251F63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热门榜对应冷启动与热度推荐，猜你喜欢对应个性化推荐。</a:t>
            </a:r>
          </a:p>
        </p:txBody>
      </p:sp>
    </p:spTree>
    <p:extLst>
      <p:ext uri="{BB962C8B-B14F-4D97-AF65-F5344CB8AC3E}">
        <p14:creationId xmlns:p14="http://schemas.microsoft.com/office/powerpoint/2010/main" val="2572727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A37389-4728-4CD3-A5DE-825EBBC2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FFF"/>
                </a:solidFill>
              </a:defRPr>
            </a:pPr>
            <a:r>
              <a:rPr sz="1050" b="1">
                <a:solidFill>
                  <a:srgbClr val="1E6FFF"/>
                </a:solidFill>
              </a:rPr>
              <a:t>第二章 重要设计与实现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C03C9-DCA8-483A-AC17-13933BD1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推荐分数由热度、新鲜度和用户偏好共同决定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F7780E-4081-4974-9E9E-A81C693B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732FE-D7B1-406E-84C6-0D27B420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070E52-4A49-4928-8179-2973E0CA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52600"/>
            <a:ext cx="44767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68158712d74d67"/>
          <a:stretch xmlns:a="http://schemas.openxmlformats.org/drawingml/2006/main"/>
        </p:blipFill>
        <p:spPr>
          <a:xfrm xmlns:a="http://schemas.openxmlformats.org/drawingml/2006/main">
            <a:off x="6743700" y="2006979"/>
            <a:ext cx="4324350" cy="2062993"/>
          </a:xfrm>
          <a:prstGeom xmlns:a="http://schemas.openxmlformats.org/drawingml/2006/main" prst="roundRect">
            <a:avLst>
              <a:gd name="adj" fmla="val 315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9BDD5-2D33-4AA4-A9F0-3BA19DD4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2428875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7A1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59D62-1E17-473C-AB55-7D20BB18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7A1A"/>
                </a:solidFill>
              </a:defRPr>
            </a:pPr>
            <a:r>
              <a:rPr sz="1650" b="1">
                <a:solidFill>
                  <a:srgbClr val="FF7A1A"/>
                </a:solidFill>
              </a:rPr>
              <a:t>热度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D3C876-A8EE-4AD6-B542-A271F80C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7645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浏览量越高，基础分越高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CE2757-3108-4127-9503-4508250B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905000"/>
            <a:ext cx="2428875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C5235B-8A23-4AA6-98A8-3DA4459E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0574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6FFF"/>
                </a:solidFill>
              </a:defRPr>
            </a:pPr>
            <a:r>
              <a:rPr sz="1650" b="1">
                <a:solidFill>
                  <a:srgbClr val="1E6FFF"/>
                </a:solidFill>
              </a:rPr>
              <a:t>新鲜度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E5956C-1F1B-4425-A2E3-A61F7309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76450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发布时间越近，衰减越少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489B80-5072-4420-BB4E-A4C3524D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2428875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B88353-2132-40A1-9D7B-8C2AD6CF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4802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6FFF"/>
                </a:solidFill>
              </a:defRPr>
            </a:pPr>
            <a:r>
              <a:rPr sz="1650" b="1">
                <a:solidFill>
                  <a:srgbClr val="1E6FFF"/>
                </a:solidFill>
              </a:rPr>
              <a:t>偏好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2691CC-B5B8-43D6-B2B4-40E31159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67075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分类、关键词、成色与价格匹配加分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E0DCDF-E25A-4801-9D94-60BB747A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095625"/>
            <a:ext cx="2428875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A669D3-D1C4-4FA8-B178-9ECEFDF0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24802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6FFF"/>
                </a:solidFill>
              </a:defRPr>
            </a:pPr>
            <a:r>
              <a:rPr sz="1650" b="1">
                <a:solidFill>
                  <a:srgbClr val="1E6FFF"/>
                </a:solidFill>
              </a:rPr>
              <a:t>降权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76659D-E5A0-462E-A1C3-6EA02DEF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267075"/>
            <a:ext cx="121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已浏览或已购买商品降低推荐分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E14029-B26F-4686-9BE8-39844C34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10287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B586D6-EFF6-426A-9120-4F19EDBE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971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6FFF"/>
                </a:solidFill>
              </a:defRPr>
            </a:pPr>
            <a:r>
              <a:rPr sz="1650" b="1">
                <a:solidFill>
                  <a:srgbClr val="1E6FFF"/>
                </a:solidFill>
              </a:rPr>
              <a:t>推荐分数 = 热度分 + 新鲜度分 + 分类偏好分 + 关键词匹配分 + 价格匹配分 - 已接触商品降权</a:t>
            </a:r>
          </a:p>
        </p:txBody>
      </p:sp>
    </p:spTree>
    <p:extLst>
      <p:ext uri="{BB962C8B-B14F-4D97-AF65-F5344CB8AC3E}">
        <p14:creationId xmlns:p14="http://schemas.microsoft.com/office/powerpoint/2010/main" val="5289812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E19646-1E18-4A9F-8D52-455E58E6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FFF"/>
                </a:solidFill>
              </a:defRPr>
            </a:pPr>
            <a:r>
              <a:rPr sz="1050" b="1">
                <a:solidFill>
                  <a:srgbClr val="1E6FFF"/>
                </a:solidFill>
              </a:rPr>
              <a:t>第二章 重要设计与实现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E1CE3-47D2-48E6-9748-7517CC77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状态模式让订单流转规则集中且可控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987963-2BB4-458E-B886-97E24EC4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765F8-6FA1-4CA4-A8A4-C92A433C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7F598-A488-4518-A347-D70E2BDB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57375"/>
            <a:ext cx="47625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a147a472784f2c"/>
          <a:stretch xmlns:a="http://schemas.openxmlformats.org/drawingml/2006/main"/>
        </p:blipFill>
        <p:spPr>
          <a:xfrm xmlns:a="http://schemas.openxmlformats.org/drawingml/2006/main">
            <a:off x="6457950" y="2413970"/>
            <a:ext cx="4610100" cy="1172809"/>
          </a:xfrm>
          <a:prstGeom xmlns:a="http://schemas.openxmlformats.org/drawingml/2006/main" prst="roundRect">
            <a:avLst>
              <a:gd name="adj" fmla="val 357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A0174E-C1A7-427D-A8F5-FE9A411C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33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27CE97-7AA6-4A65-9685-FD69D7E6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4933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订单状态包括待支付、已支付、已发货、已完成、已取消。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897128-790E-4AB2-AA8B-92FCFA99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52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0505A7-C9BC-42AD-9622-AB7F1A66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4933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OrderStatus 枚举集中定义状态，canTransitionTo() 控制合法流转。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706853-7E3D-494B-90B1-C36DCE72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71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6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A550A6-5CA7-4E67-9297-69C9AEEE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4933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状态列中的“已支付、已发货、已完成”对应真实订单流转结果。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7B4413-3C76-4B97-B2BA-A21A4532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9525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C402D-19E9-4D75-899D-3A35B319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待支付 → 已支付 / 已取消；已支付 → 已发货 / 已取消；已发货 → 已完成。</a:t>
            </a:r>
          </a:p>
        </p:txBody>
      </p:sp>
    </p:spTree>
    <p:extLst>
      <p:ext uri="{BB962C8B-B14F-4D97-AF65-F5344CB8AC3E}">
        <p14:creationId xmlns:p14="http://schemas.microsoft.com/office/powerpoint/2010/main" val="183237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D7DA90-8349-46EF-9F93-E169512E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FFF"/>
                </a:solidFill>
              </a:defRPr>
            </a:pPr>
            <a:r>
              <a:rPr sz="1050" b="1">
                <a:solidFill>
                  <a:srgbClr val="1E6FFF"/>
                </a:solidFill>
              </a:rPr>
              <a:t>第二章 重要设计与实现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C4388-AE8A-4358-903F-DCCB019F8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模板方法模式复用订单操作的公共流程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BE5637-C8F4-4E05-BF32-F1205BC4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8778B-1B1D-4185-BAAD-1F63F949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8C49A8-85CD-4B5D-A5A0-D85787D6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09750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80693cf956415d"/>
          <a:stretch xmlns:a="http://schemas.openxmlformats.org/drawingml/2006/main"/>
        </p:blipFill>
        <p:spPr>
          <a:xfrm xmlns:a="http://schemas.openxmlformats.org/drawingml/2006/main">
            <a:off x="7696200" y="2214707"/>
            <a:ext cx="3181350" cy="809335"/>
          </a:xfrm>
          <a:prstGeom xmlns:a="http://schemas.openxmlformats.org/drawingml/2006/main" prst="roundRect">
            <a:avLst>
              <a:gd name="adj" fmla="val 519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EB7E49-24FE-4B1B-9537-1D21CB56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支付、发货、确认收货、取消订单的目标状态不同，但处理骨架一致。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7413F-5D1F-4D99-94C0-44207F2F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05125"/>
            <a:ext cx="13811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09D0A5-7FD3-4998-A662-AEF367BC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查询订单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8F8BE-99C0-4218-9858-348D4FE1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905125"/>
            <a:ext cx="13811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DE41E9-A02B-4A93-BB9E-70EA778E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1432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校验操作者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08F0A3-0193-42E5-A0C0-8F2E310E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05125"/>
            <a:ext cx="13811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FEE9E7-4E92-490A-BF0C-8BC443F6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432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校验状态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996479-FC49-4F68-9381-EA842D4D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905125"/>
            <a:ext cx="13811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7A1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0662CE-EFF3-42E5-9D41-E077999D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1432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更新状态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16A46E-1349-4AF2-8805-FCDBD009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05125"/>
            <a:ext cx="13811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A32856-90F1-49F7-A0EF-07EE2111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432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写日志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9C8D85-7747-4780-B5DB-058E193F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905125"/>
            <a:ext cx="13811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7677F6-DA5F-4E9C-BB3E-8CA5B144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1432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发通知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7CE7AC-5BFD-4F13-A613-3D2DAA58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29125"/>
            <a:ext cx="68580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0D6CAF-A092-4D46-B6E6-9C306F19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6FFF"/>
                </a:solidFill>
              </a:defRPr>
            </a:pPr>
            <a:r>
              <a:rPr sz="1650" b="1">
                <a:solidFill>
                  <a:srgbClr val="1E6FFF"/>
                </a:solidFill>
              </a:rPr>
              <a:t>具体实现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40365B-CD7D-4AC7-B65A-FF385E16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628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pay()、ship()、confirm()、cancel() 最终调用统一的 transition() / transitionEntity()。</a:t>
            </a:r>
          </a:p>
        </p:txBody>
      </p:sp>
    </p:spTree>
    <p:extLst>
      <p:ext uri="{BB962C8B-B14F-4D97-AF65-F5344CB8AC3E}">
        <p14:creationId xmlns:p14="http://schemas.microsoft.com/office/powerpoint/2010/main" val="119012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FD5317-6F45-41DE-8D4A-409C6BD4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FFF"/>
                </a:solidFill>
              </a:defRPr>
            </a:pPr>
            <a:r>
              <a:rPr sz="1050" b="1">
                <a:solidFill>
                  <a:srgbClr val="1E6FFF"/>
                </a:solidFill>
              </a:rPr>
              <a:t>第二章 重要设计与实现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342B37-0A1C-4161-9DBA-D208FE74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门面模式把复杂业务封装在 Service 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9492A-0B07-439A-B966-F4949A62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B8699C-7455-471B-9085-D55178F4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BE866-CDCA-433F-BA14-74C1973B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44767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f6c4fe03724022"/>
          <a:stretch xmlns:a="http://schemas.openxmlformats.org/drawingml/2006/main"/>
        </p:blipFill>
        <p:spPr>
          <a:xfrm xmlns:a="http://schemas.openxmlformats.org/drawingml/2006/main">
            <a:off x="6648450" y="1784169"/>
            <a:ext cx="4324350" cy="3289661"/>
          </a:xfrm>
          <a:prstGeom xmlns:a="http://schemas.openxmlformats.org/drawingml/2006/main" prst="roundRect">
            <a:avLst>
              <a:gd name="adj" fmla="val 226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BE4EB4-4EFB-46CE-8707-F8A9911B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2286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31BDA-1F7A-4535-8325-F18646C1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6FFF"/>
                </a:solidFill>
              </a:defRPr>
            </a:pPr>
            <a:r>
              <a:rPr sz="1725" b="1">
                <a:solidFill>
                  <a:srgbClr val="1E6FFF"/>
                </a:solidFill>
              </a:rPr>
              <a:t>前端入口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E881F-CC0E-4071-85F1-EDB0B1E6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用户提交发布表单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A8C4E5-2AB1-405A-82B1-04113EA2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52625"/>
            <a:ext cx="27146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7A1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F926F7-DE40-4033-9410-9CC694AF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71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7A1A"/>
                </a:solidFill>
              </a:defRPr>
            </a:pPr>
            <a:r>
              <a:rPr sz="1725" b="1">
                <a:solidFill>
                  <a:srgbClr val="FF7A1A"/>
                </a:solidFill>
              </a:rPr>
              <a:t>Service 内部处理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7B740C-D82D-4680-99B0-C52FA170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289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参数校验</a:t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分类校验</a:t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敏感词检测</a:t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图片保存</a:t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状态初始化</a:t>
            </a:r>
          </a:p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通知与后续审核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B27C75-8060-48BF-8EE5-6EE07E6D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86375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页面保持简单，后端 Service 统一编排业务细节，Controller 不直接处理复杂流程。</a:t>
            </a:r>
          </a:p>
        </p:txBody>
      </p:sp>
    </p:spTree>
    <p:extLst>
      <p:ext uri="{BB962C8B-B14F-4D97-AF65-F5344CB8AC3E}">
        <p14:creationId xmlns:p14="http://schemas.microsoft.com/office/powerpoint/2010/main" val="18990832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9F5678-6195-4BD3-95F5-AF50CCC5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FFF"/>
                </a:solidFill>
              </a:defRPr>
            </a:pPr>
            <a:r>
              <a:rPr sz="1050" b="1">
                <a:solidFill>
                  <a:srgbClr val="1E6FFF"/>
                </a:solidFill>
              </a:rPr>
              <a:t>第二章 重要设计与实现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FB24E-B733-4E6D-B71F-5FFD64F2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策略模式思想让不同用户走不同推荐路径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6400F-5246-47CC-9D90-236CEC26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FDEA78-8A31-47E5-8D38-42638A1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EC650-C249-498E-9CD5-4CCE7120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49530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1be811398f4786"/>
          <a:stretch xmlns:a="http://schemas.openxmlformats.org/drawingml/2006/main"/>
        </p:blipFill>
        <p:spPr>
          <a:xfrm xmlns:a="http://schemas.openxmlformats.org/drawingml/2006/main">
            <a:off x="955513" y="1885950"/>
            <a:ext cx="4070673" cy="1562100"/>
          </a:xfrm>
          <a:prstGeom xmlns:a="http://schemas.openxmlformats.org/drawingml/2006/main" prst="roundRect">
            <a:avLst>
              <a:gd name="adj" fmla="val 487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C3C6E0-9B77-42AE-9FB6-C6133987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762125"/>
            <a:ext cx="3143250" cy="3429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f5c185e02f4c37"/>
          <a:stretch xmlns:a="http://schemas.openxmlformats.org/drawingml/2006/main"/>
        </p:blipFill>
        <p:spPr>
          <a:xfrm xmlns:a="http://schemas.openxmlformats.org/drawingml/2006/main">
            <a:off x="7883094" y="1838325"/>
            <a:ext cx="2521812" cy="3276600"/>
          </a:xfrm>
          <a:prstGeom xmlns:a="http://schemas.openxmlformats.org/drawingml/2006/main" prst="roundRect">
            <a:avLst>
              <a:gd name="adj" fmla="val 254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5B92A5-0AA2-4B7B-BCA0-12E154ED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495300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1A51D-5D34-42FA-A466-A33E4C65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05300"/>
            <a:ext cx="452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6FFF"/>
                </a:solidFill>
              </a:defRPr>
            </a:pPr>
            <a:r>
              <a:rPr sz="1500" b="1">
                <a:solidFill>
                  <a:srgbClr val="1E6FFF"/>
                </a:solidFill>
              </a:rPr>
              <a:t>有行为用户：构建画像，计算分类、关键词、价格等匹配分。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A91DCE-A264-4AAD-9BD3-FFB2EBB3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00500"/>
            <a:ext cx="1666875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C25802-169B-4592-A123-B3E5504A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24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选择策略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39BC8A-6501-4F58-A12F-58F2BF8A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429250"/>
            <a:ext cx="3143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227AF0-17CC-4B05-9666-A500FCC8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5816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无行为用户：优先按热度和新鲜度推荐。</a:t>
            </a:r>
          </a:p>
        </p:txBody>
      </p:sp>
    </p:spTree>
    <p:extLst>
      <p:ext uri="{BB962C8B-B14F-4D97-AF65-F5344CB8AC3E}">
        <p14:creationId xmlns:p14="http://schemas.microsoft.com/office/powerpoint/2010/main" val="19876344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1F99AE-55A4-45CA-B662-131DD687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FFF"/>
                </a:solidFill>
              </a:defRPr>
            </a:pPr>
            <a:r>
              <a:rPr sz="1050" b="1">
                <a:solidFill>
                  <a:srgbClr val="1E6FFF"/>
                </a:solidFill>
              </a:rPr>
              <a:t>第二章 重要设计与实现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33660-9A39-4055-8F4B-9AB5D7A3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商品市场和发布页共同支撑买卖双方操作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4DAD7-4ED9-4D13-8274-858C50B5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0D743-B603-4ABC-A7F6-9788FA6B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FF06F-9FD3-459B-B786-5C788C12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5476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ab9d549eea434a"/>
          <a:stretch xmlns:a="http://schemas.openxmlformats.org/drawingml/2006/main"/>
        </p:blipFill>
        <p:spPr>
          <a:xfrm xmlns:a="http://schemas.openxmlformats.org/drawingml/2006/main">
            <a:off x="590550" y="2299000"/>
            <a:ext cx="5324475" cy="1307501"/>
          </a:xfrm>
          <a:prstGeom xmlns:a="http://schemas.openxmlformats.org/drawingml/2006/main" prst="roundRect">
            <a:avLst>
              <a:gd name="adj" fmla="val 341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9CDE60-0FB0-4C66-89D9-12B2F501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62125"/>
            <a:ext cx="4476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32f1177a6e481b"/>
          <a:stretch xmlns:a="http://schemas.openxmlformats.org/drawingml/2006/main"/>
        </p:blipFill>
        <p:spPr>
          <a:xfrm xmlns:a="http://schemas.openxmlformats.org/drawingml/2006/main">
            <a:off x="6970056" y="1838325"/>
            <a:ext cx="3681137" cy="2800350"/>
          </a:xfrm>
          <a:prstGeom xmlns:a="http://schemas.openxmlformats.org/drawingml/2006/main" prst="roundRect">
            <a:avLst>
              <a:gd name="adj" fmla="val 272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1FD3F7-BDAF-4060-856F-B6A7741B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1962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买家侧：搜索、分类、热门关键词、排序、查看结果。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2347F2-82B2-4711-B4A9-4D14501E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00625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卖家侧：填写名称、分类、成色、价格和描述，提交后进入审核流程。</a:t>
            </a:r>
          </a:p>
        </p:txBody>
      </p:sp>
    </p:spTree>
    <p:extLst>
      <p:ext uri="{BB962C8B-B14F-4D97-AF65-F5344CB8AC3E}">
        <p14:creationId xmlns:p14="http://schemas.microsoft.com/office/powerpoint/2010/main" val="2840325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A71CF4-B051-4A6D-9049-E7C816F9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FFF"/>
                </a:solidFill>
              </a:defRPr>
            </a:pPr>
            <a:r>
              <a:rPr sz="1050" b="1">
                <a:solidFill>
                  <a:srgbClr val="1E6FFF"/>
                </a:solidFill>
              </a:rPr>
              <a:t>第二章 重要设计与实现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DB96A-4C95-4B38-81D6-099F997F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消息、公告和安全须知共同保障交易沟通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6BC39-ED4C-4983-A5A5-CF432118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4F97A9-4516-4C82-B885-7DC0A071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EE1344-CA40-48A2-9663-6A6B6B56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4762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8db6b6d2c54165"/>
          <a:stretch xmlns:a="http://schemas.openxmlformats.org/drawingml/2006/main"/>
        </p:blipFill>
        <p:spPr>
          <a:xfrm xmlns:a="http://schemas.openxmlformats.org/drawingml/2006/main">
            <a:off x="1228568" y="1866900"/>
            <a:ext cx="3334065" cy="2228850"/>
          </a:xfrm>
          <a:prstGeom xmlns:a="http://schemas.openxmlformats.org/drawingml/2006/main" prst="roundRect">
            <a:avLst>
              <a:gd name="adj" fmla="val 341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D3801E-EB04-47A7-9F8E-FF99A2FC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2600"/>
            <a:ext cx="495300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ce0108c6c84700"/>
          <a:stretch xmlns:a="http://schemas.openxmlformats.org/drawingml/2006/main"/>
        </p:blipFill>
        <p:spPr>
          <a:xfrm xmlns:a="http://schemas.openxmlformats.org/drawingml/2006/main">
            <a:off x="7097508" y="1828800"/>
            <a:ext cx="2568983" cy="1514475"/>
          </a:xfrm>
          <a:prstGeom xmlns:a="http://schemas.openxmlformats.org/drawingml/2006/main" prst="roundRect">
            <a:avLst>
              <a:gd name="adj" fmla="val 503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BBB151-779E-4A4B-8ED4-87C3A927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62375"/>
            <a:ext cx="4953000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925cb7d5324dfb"/>
          <a:srcRect xmlns:a="http://schemas.openxmlformats.org/drawingml/2006/main" l="0" t="17114" r="0" b="171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1700" y="3838575"/>
            <a:ext cx="4800600" cy="1752600"/>
          </a:xfrm>
          <a:prstGeom xmlns:a="http://schemas.openxmlformats.org/drawingml/2006/main" prst="roundRect">
            <a:avLst>
              <a:gd name="adj" fmla="val 4348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4FF223-C2D4-42D7-B01E-F3BE646D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24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消息中心记录商品咨询、交易进度和系统通知。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A08ABF-F990-43D9-80F0-E70B9D10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公告与安全须知承担平台规则、活动安排、交易提醒和纠纷处理说明。</a:t>
            </a:r>
          </a:p>
        </p:txBody>
      </p:sp>
    </p:spTree>
    <p:extLst>
      <p:ext uri="{BB962C8B-B14F-4D97-AF65-F5344CB8AC3E}">
        <p14:creationId xmlns:p14="http://schemas.microsoft.com/office/powerpoint/2010/main" val="12526265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344355-9925-4B09-9C5E-86D67E7A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FFF"/>
                </a:solidFill>
              </a:defRPr>
            </a:pPr>
            <a:r>
              <a:rPr sz="1050" b="1">
                <a:solidFill>
                  <a:srgbClr val="1E6FFF"/>
                </a:solidFill>
              </a:rPr>
              <a:t>第二章 重要设计与实现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838B4-8D35-426D-BE11-6030DFEE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后台管理把平台运营和内容治理集中起来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0805A-9F17-4FB3-907F-68D13F5E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C8050-30F1-471A-9715-49290008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A9E93D-8755-4089-8D98-35CD1AF8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66875"/>
            <a:ext cx="5810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23ad78fd9348b1"/>
          <a:stretch xmlns:a="http://schemas.openxmlformats.org/drawingml/2006/main"/>
        </p:blipFill>
        <p:spPr>
          <a:xfrm xmlns:a="http://schemas.openxmlformats.org/drawingml/2006/main">
            <a:off x="1161105" y="1743075"/>
            <a:ext cx="4516740" cy="2705100"/>
          </a:xfrm>
          <a:prstGeom xmlns:a="http://schemas.openxmlformats.org/drawingml/2006/main" prst="roundRect">
            <a:avLst>
              <a:gd name="adj" fmla="val 281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960B21-9208-464F-ACED-C627D571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57350"/>
            <a:ext cx="40005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cd79d83e748e8"/>
          <a:stretch xmlns:a="http://schemas.openxmlformats.org/drawingml/2006/main"/>
        </p:blipFill>
        <p:spPr>
          <a:xfrm xmlns:a="http://schemas.openxmlformats.org/drawingml/2006/main">
            <a:off x="7295594" y="1733550"/>
            <a:ext cx="3125312" cy="952500"/>
          </a:xfrm>
          <a:prstGeom xmlns:a="http://schemas.openxmlformats.org/drawingml/2006/main" prst="roundRect">
            <a:avLst>
              <a:gd name="adj" fmla="val 80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55E80B-68E2-4D49-A094-DCEC1BD3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00375"/>
            <a:ext cx="4000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d4d01d201c4b71"/>
          <a:stretch xmlns:a="http://schemas.openxmlformats.org/drawingml/2006/main"/>
        </p:blipFill>
        <p:spPr>
          <a:xfrm xmlns:a="http://schemas.openxmlformats.org/drawingml/2006/main">
            <a:off x="7061080" y="3076575"/>
            <a:ext cx="3594340" cy="914400"/>
          </a:xfrm>
          <a:prstGeom xmlns:a="http://schemas.openxmlformats.org/drawingml/2006/main" prst="roundRect">
            <a:avLst>
              <a:gd name="adj" fmla="val 8333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9B913D-FA12-45F5-A1A0-BB124A10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05300"/>
            <a:ext cx="4000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c286faca7e4b53"/>
          <a:stretch xmlns:a="http://schemas.openxmlformats.org/drawingml/2006/main"/>
        </p:blipFill>
        <p:spPr>
          <a:xfrm xmlns:a="http://schemas.openxmlformats.org/drawingml/2006/main">
            <a:off x="7640979" y="4381500"/>
            <a:ext cx="2434542" cy="914400"/>
          </a:xfrm>
          <a:prstGeom xmlns:a="http://schemas.openxmlformats.org/drawingml/2006/main" prst="roundRect">
            <a:avLst>
              <a:gd name="adj" fmla="val 8333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95E52C-051A-4216-8C04-B09247DD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012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数据概览显示注册用户、商品总数、订单总数、成交总额、分类占比和趋势。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9F4C85-429A-4EB6-BDD1-456451B3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504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用户、订单、敏感词管理体现平台治理能力。</a:t>
            </a:r>
          </a:p>
        </p:txBody>
      </p:sp>
    </p:spTree>
    <p:extLst>
      <p:ext uri="{BB962C8B-B14F-4D97-AF65-F5344CB8AC3E}">
        <p14:creationId xmlns:p14="http://schemas.microsoft.com/office/powerpoint/2010/main" val="73826046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025F49-3D66-4580-A081-F6B48284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6FFF"/>
                </a:solidFill>
              </a:defRPr>
            </a:pPr>
            <a:r>
              <a:rPr sz="1050" b="1">
                <a:solidFill>
                  <a:srgbClr val="1E6FFF"/>
                </a:solidFill>
              </a:rPr>
              <a:t>第三章 成员分工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4CE38-BC29-4AD9-8A77-012B32BC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团队分工围绕架构、交易、前端和质量保障展开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DB5C41-8FC5-4164-81F2-11281E42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B40E14-968B-48CE-AC65-F6EDF780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1912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71B351-85F3-497E-B461-46F6F78E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2381250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E70FB-CCC1-4524-8726-1CE594F5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6FFF"/>
                </a:solidFill>
              </a:defRPr>
            </a:pPr>
            <a:r>
              <a:rPr sz="1650" b="1">
                <a:solidFill>
                  <a:srgbClr val="1E6FFF"/>
                </a:solidFill>
              </a:rPr>
              <a:t>成员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813830-FC37-4A9D-A4FD-7693505E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19526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后端核心与系统架构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JWT 认证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权限控制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统一异常处理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F69D0B-039F-40AF-AAEC-BBEA400B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762125"/>
            <a:ext cx="2381250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6A413-C977-48D3-B7E3-ABC2D0C0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00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6FFF"/>
                </a:solidFill>
              </a:defRPr>
            </a:pPr>
            <a:r>
              <a:rPr sz="1650" b="1">
                <a:solidFill>
                  <a:srgbClr val="1E6FFF"/>
                </a:solidFill>
              </a:rPr>
              <a:t>成员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7264E0-3566-415D-B157-4C5D3415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57450"/>
            <a:ext cx="19526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商品与订单模块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商品审核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订单状态机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乐观锁防超卖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9B090B-81F9-490F-A4E3-D67B06A5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62125"/>
            <a:ext cx="2381250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5D4B7D-6319-4328-ADC5-FD14100A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E6FFF"/>
                </a:solidFill>
              </a:defRPr>
            </a:pPr>
            <a:r>
              <a:rPr sz="1650" b="1">
                <a:solidFill>
                  <a:srgbClr val="1E6FFF"/>
                </a:solidFill>
              </a:rPr>
              <a:t>成员 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327EB3-884F-4C45-B4A2-9A0C6255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57450"/>
            <a:ext cx="19526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前端页面与交互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商品市场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发布页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消息与公告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E3161A-4520-4C27-8D77-82E3C8D3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62125"/>
            <a:ext cx="2381250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7A1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48100D-4544-4B38-AE3D-E0942339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7A1A"/>
                </a:solidFill>
              </a:defRPr>
            </a:pPr>
            <a:r>
              <a:rPr sz="1650" b="1">
                <a:solidFill>
                  <a:srgbClr val="FF7A1A"/>
                </a:solidFill>
              </a:rPr>
              <a:t>成员 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7B852E-3C8E-4E09-A54B-CFB0641B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57450"/>
            <a:ext cx="19526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推荐算法、数据库与测试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MySQL / Redis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后台管理</a:t>
            </a:r>
          </a:p>
          <a:p xmlns:a="http://schemas.openxmlformats.org/drawingml/2006/main">
            <a:pPr algn="l"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答辩材料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CA6F81-EE76-4AA5-9745-C8E70D6A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00550"/>
            <a:ext cx="23336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b2617322214d37"/>
          <a:srcRect xmlns:a="http://schemas.openxmlformats.org/drawingml/2006/main" l="22964" t="0" r="229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4476750"/>
            <a:ext cx="2181225" cy="990600"/>
          </a:xfrm>
          <a:prstGeom xmlns:a="http://schemas.openxmlformats.org/drawingml/2006/main" prst="roundRect">
            <a:avLst>
              <a:gd name="adj" fmla="val 7692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536393-6438-4970-849A-BBC85A39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400550"/>
            <a:ext cx="23336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69752120d4f42"/>
          <a:srcRect xmlns:a="http://schemas.openxmlformats.org/drawingml/2006/main" l="7751" t="0" r="775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71850" y="4476750"/>
            <a:ext cx="2181225" cy="990600"/>
          </a:xfrm>
          <a:prstGeom xmlns:a="http://schemas.openxmlformats.org/drawingml/2006/main" prst="roundRect">
            <a:avLst>
              <a:gd name="adj" fmla="val 7692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78E24F-DD21-4E01-8504-7D278BE3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00550"/>
            <a:ext cx="23336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1ab4b63cf54bde"/>
          <a:srcRect xmlns:a="http://schemas.openxmlformats.org/drawingml/2006/main" l="0" t="16033" r="0" b="160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4476750"/>
            <a:ext cx="2181225" cy="990600"/>
          </a:xfrm>
          <a:prstGeom xmlns:a="http://schemas.openxmlformats.org/drawingml/2006/main" prst="roundRect">
            <a:avLst>
              <a:gd name="adj" fmla="val 7692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43A9FD-41BA-4DD7-AF57-C57FC879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00550"/>
            <a:ext cx="23336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d710c32fc24139"/>
          <a:srcRect xmlns:a="http://schemas.openxmlformats.org/drawingml/2006/main" l="0" t="12085" r="0" b="120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34450" y="4476750"/>
            <a:ext cx="2181225" cy="990600"/>
          </a:xfrm>
          <a:prstGeom xmlns:a="http://schemas.openxmlformats.org/drawingml/2006/main" prst="roundRect">
            <a:avLst>
              <a:gd name="adj" fmla="val 7692"/>
            </a:avLst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616B4C-829B-495B-A23F-15150493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项目完成了从商品发布、推荐曝光、订单交易到后台治理的核心闭环。</a:t>
            </a:r>
          </a:p>
        </p:txBody>
      </p:sp>
    </p:spTree>
    <p:extLst>
      <p:ext uri="{BB962C8B-B14F-4D97-AF65-F5344CB8AC3E}">
        <p14:creationId xmlns:p14="http://schemas.microsoft.com/office/powerpoint/2010/main" val="17456732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2026-07-09T10:07:09.6920000Z</dcterms:created>
  <dcterms:modified xsi:type="dcterms:W3CDTF">2026-07-09T10:07:09.6920000Z</dcterms:modified>
</coreProperties>
</file>