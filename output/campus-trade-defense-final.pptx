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各位老师好，我们小组本次答辩的项目是校园二手物品交易平台的设计与实现。这个系统面向高校师生，目标是把校内闲置物品交易从分散的信息流，整理成可搜索、可沟通、可审核、可追踪的完整平台。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这次汇报分为三个部分。第一部分介绍系统为什么做、服务谁、具备哪些功能。第二部分讲关键设计和实现，包括状态模式、策略模式、外观模式、推荐算法和完整业务流程。第三部分说明成员分工和项目总结。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项目背景来自校园二手交易的真实痛点。传统交易方式信息分散，用户很难检索，也难以判断交易是否安全。我们的做法是建设一个统一的 Web 平台，让商品发布、市场浏览、沟通、下单和后台治理都在系统内完成。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这一页展示的是系统总体用例。系统有普通用户、卖家和管理员三类角色。普通用户既可以作为买家，也可以作为卖家。管理员负责审核和治理，保证商品信息和交易流程更规范。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系统功能可以概括为六大模块：用户认证、商品管理、订单交易、消息通知、后台管理和扩展治理。它不是单一的展示页面，而是覆盖了用户交易前、交易中和交易后的完整过程。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系统架构采用前后端分离。前端负责页面展示和状态管理，后端按 Controller、Service、Mapper 分层处理请求，数据库负责核心数据保存，Redis 用于验证码、限流、缓存和热度排行。这样的结构让系统更容易维护和扩展。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状态模式主要体现在商品和订单生命周期上。商品从待审核到在售，再到下架或售出；订单从待付款到已付款、已发货、已完成。系统只允许符合当前状态的操作执行，从而避免业务状态混乱。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策略模式主要用在商品排序和推荐中。市场页可以选择最新、热度、价格等不同策略；首页推荐则使用行为推荐策略。这样系统可以根据不同场景切换算法，而不是把所有排序逻辑写死。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外观模式体现在业务服务封装中。比如下单，前端只需要调用一个购买接口，但后端内部要校验身份、校验商品、创建订单、更新状态并发送通知。Service 层就相当于外观，降低了调用复杂度。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推荐算法使用用户行为画像加多因子评分。浏览、搜索、收藏和购买对应不同权重，购买和收藏代表更强兴趣。同时加入时间衰减，近期行为影响更大。系统根据分类、关键词、成色和价格偏好匹配候选商品，再结合热度和新鲜度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完整功能实现的总结。用户发布商品后，系统先进行敏感词检测，再进入管理员审核。审核通过后商品进入市场展示，买家可以搜索、沟通、下单、支付，卖家发货，买家确认收货。如果出现违规或纠纷，还可以举报并由后台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后台管理是平台治理的核心。管理员可以看到数据概览，进行用户管理、公告管理、敏感词维护和安全告示发布。同时，商品审核和举报处理让平台具备内容把关和纠纷处理能力。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在测试方面，后端有 24 个 MockMvc 集成测试，前端有 16 个 Vitest 测试文件，还设计了 10 组黑盒业务流程。重点验证了搜索分页、并发下单和 Redis 降级。测试结果说明系统核心流程能够稳定运行。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最后是成员分工。四名成员分别承担项目规划和后端架构、用户认证和 Redis、前端架构和扩展功能、业务页面和 UI 测试等工作。总体来看，本项目完成了校园二手交易平台从需求分析、功能实现、后台治理到测试验证的完整实践。后续可以继续优化真实支付、实时聊天和移动端适配。我的汇报到这里，谢谢各位老师。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我的汇报到此结束，感谢各位老师的聆听，恳请各位老师批评指正。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39.xml"/><Relationship Id="rId2" Type="http://schemas.openxmlformats.org/officeDocument/2006/relationships/image" Target="../media/image7.png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8.png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image" Target="../media/image12.png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2.png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6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9" Type="http://schemas.openxmlformats.org/officeDocument/2006/relationships/notesSlide" Target="../notesSlides/notesSlide11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15.png"/><Relationship Id="rId26" Type="http://schemas.openxmlformats.org/officeDocument/2006/relationships/image" Target="../media/image9.png"/><Relationship Id="rId25" Type="http://schemas.openxmlformats.org/officeDocument/2006/relationships/image" Target="../media/image2.png"/><Relationship Id="rId24" Type="http://schemas.openxmlformats.org/officeDocument/2006/relationships/image" Target="../media/image13.png"/><Relationship Id="rId23" Type="http://schemas.openxmlformats.org/officeDocument/2006/relationships/tags" Target="../tags/tag101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tags" Target="../tags/tag80.xml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7239000" cy="6858000"/>
          </a:xfrm>
          <a:prstGeom prst="rect">
            <a:avLst/>
          </a:prstGeom>
          <a:solidFill>
            <a:srgbClr val="0B1728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239000" y="0"/>
            <a:ext cx="1619250" cy="6858000"/>
          </a:xfrm>
          <a:prstGeom prst="rect">
            <a:avLst/>
          </a:prstGeom>
          <a:solidFill>
            <a:srgbClr val="1E3A5F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5143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DBEAFE"/>
                </a:solidFill>
              </a:defRPr>
            </a:pPr>
            <a:r>
              <a:rPr sz="1350" b="1">
                <a:solidFill>
                  <a:srgbClr val="DBEAFE"/>
                </a:solidFill>
              </a:rPr>
              <a:t>软件与理论综合设计与实践</a:t>
            </a:r>
            <a:endParaRPr sz="1350" b="1">
              <a:solidFill>
                <a:srgbClr val="DBEAF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476375"/>
            <a:ext cx="68580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校园二手物品交易平台</a:t>
            </a:r>
            <a:endParaRPr sz="4125" b="1">
              <a:solidFill>
                <a:srgbClr val="FFFFFF"/>
              </a:solidFill>
            </a:endParaRPr>
          </a:p>
          <a:p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的设计与实现</a:t>
            </a:r>
            <a:endParaRPr sz="4125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30289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FDBFE"/>
                </a:solidFill>
              </a:defRPr>
            </a:pPr>
            <a:r>
              <a:rPr sz="2100" b="1">
                <a:solidFill>
                  <a:srgbClr val="BFDBFE"/>
                </a:solidFill>
              </a:rPr>
              <a:t>同校面对面  交易更安全</a:t>
            </a:r>
            <a:endParaRPr sz="2100" b="1">
              <a:solidFill>
                <a:srgbClr val="BFDBFE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33400" y="4953000"/>
            <a:ext cx="40005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  <p:txBody>
          <a:bodyPr/>
          <a:p>
            <a:r>
              <a:rPr lang="en-US" altLang="zh-CN"/>
              <a:t>     </a:t>
            </a:r>
            <a:r>
              <a:rPr lang="zh-CN" altLang="en-US"/>
              <a:t>邓先毅</a:t>
            </a:r>
            <a:r>
              <a:rPr lang="en-US" altLang="zh-CN"/>
              <a:t> </a:t>
            </a:r>
            <a:r>
              <a:rPr lang="zh-CN" altLang="en-US"/>
              <a:t>刘荣沁</a:t>
            </a:r>
            <a:r>
              <a:rPr lang="en-US" altLang="zh-CN"/>
              <a:t> </a:t>
            </a:r>
            <a:r>
              <a:rPr lang="zh-CN" altLang="en-US"/>
              <a:t>明冬阳</a:t>
            </a:r>
            <a:r>
              <a:rPr lang="en-US" altLang="zh-CN"/>
              <a:t> </a:t>
            </a:r>
            <a:r>
              <a:rPr lang="zh-CN" altLang="en-US"/>
              <a:t>朱大</a:t>
            </a:r>
            <a:r>
              <a:rPr lang="zh-CN" altLang="en-US"/>
              <a:t>前</a:t>
            </a:r>
            <a:endParaRPr lang="zh-CN" altLang="en-US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51244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endParaRPr lang="zh-CN" sz="1800" b="1">
              <a:solidFill>
                <a:srgbClr val="0F172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1225" y="54102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Vue3 + Spring Boot + MySQL + Redis</a:t>
            </a:r>
            <a:endParaRPr sz="1200" b="0">
              <a:solidFill>
                <a:srgbClr val="64748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239500" y="61912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E2E8F0"/>
                </a:solidFill>
              </a:defRPr>
            </a:pPr>
            <a:r>
              <a:rPr sz="1050" b="0">
                <a:solidFill>
                  <a:srgbClr val="E2E8F0"/>
                </a:solidFill>
              </a:rPr>
              <a:t>01</a:t>
            </a:r>
            <a:endParaRPr sz="1050" b="0">
              <a:solidFill>
                <a:srgbClr val="E2E8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285750"/>
            <a:ext cx="4613910" cy="9639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6FFF"/>
                </a:solidFill>
              </a:defRPr>
            </a:pPr>
            <a:endParaRPr sz="1125" b="1">
              <a:solidFill>
                <a:srgbClr val="1E6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5905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endParaRPr sz="28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95400"/>
            <a:ext cx="11125200" cy="13335"/>
          </a:xfrm>
          <a:prstGeom prst="rect">
            <a:avLst/>
          </a:prstGeom>
          <a:solidFill>
            <a:srgbClr val="D8E3F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02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85470" y="2470150"/>
            <a:ext cx="323850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14070" y="26987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64748B"/>
                </a:solidFill>
              </a:defRPr>
            </a:pPr>
            <a:r>
              <a:rPr sz="2550" b="1">
                <a:solidFill>
                  <a:srgbClr val="64748B"/>
                </a:solidFill>
              </a:rPr>
              <a:t>01</a:t>
            </a:r>
            <a:endParaRPr sz="2550" b="1">
              <a:solidFill>
                <a:srgbClr val="64748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14070" y="33655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系统简介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14070" y="3898900"/>
            <a:ext cx="2628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项目背景、用户角色、总体用例和功能模块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300220" y="2470150"/>
            <a:ext cx="3238500" cy="2571750"/>
          </a:xfrm>
          <a:prstGeom prst="roundRect">
            <a:avLst>
              <a:gd name="adj" fmla="val 4444"/>
            </a:avLst>
          </a:prstGeom>
          <a:solidFill>
            <a:srgbClr val="F4F8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528820" y="26987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E6FFF"/>
                </a:solidFill>
              </a:defRPr>
            </a:pPr>
            <a:r>
              <a:rPr sz="2550" b="1">
                <a:solidFill>
                  <a:srgbClr val="1E6FFF"/>
                </a:solidFill>
              </a:rPr>
              <a:t>02</a:t>
            </a:r>
            <a:endParaRPr sz="2550" b="1">
              <a:solidFill>
                <a:srgbClr val="1E6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642485" y="3365500"/>
            <a:ext cx="256984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重要设计和实现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528820" y="3898900"/>
            <a:ext cx="2628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系统架构、设计模式、推荐算法和交易闭环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014970" y="2470150"/>
            <a:ext cx="323850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243570" y="26987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64748B"/>
                </a:solidFill>
              </a:defRPr>
            </a:pPr>
            <a:r>
              <a:rPr sz="2550" b="1">
                <a:solidFill>
                  <a:srgbClr val="64748B"/>
                </a:solidFill>
              </a:rPr>
              <a:t>03</a:t>
            </a:r>
            <a:endParaRPr sz="2550" b="1">
              <a:solidFill>
                <a:srgbClr val="64748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538845" y="33655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成员分工</a:t>
            </a:r>
            <a:endParaRPr sz="2250" b="1">
              <a:solidFill>
                <a:srgbClr val="0F172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243570" y="3898900"/>
            <a:ext cx="2628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小组职责划分、实现结果和后续优化方向</a:t>
            </a:r>
            <a:endParaRPr sz="1500" b="0">
              <a:solidFill>
                <a:srgbClr val="64748B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7715" y="4044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目录</a:t>
            </a:r>
            <a:endParaRPr lang="zh-CN" altLang="en-US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51180" y="18478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6FFF"/>
                </a:solidFill>
              </a:defRPr>
            </a:pPr>
            <a:r>
              <a:rPr sz="2000" b="1">
                <a:solidFill>
                  <a:srgbClr val="1E6FFF"/>
                </a:solidFill>
              </a:rPr>
              <a:t>第一章  系统简介</a:t>
            </a:r>
            <a:endParaRPr sz="2000" b="1">
              <a:solidFill>
                <a:srgbClr val="1E6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5905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lang="zh-CN" sz="2850" b="1">
                <a:solidFill>
                  <a:srgbClr val="0F172A"/>
                </a:solidFill>
                <a:ea typeface="宋体" panose="02010600030101010101" pitchFamily="2" charset="-122"/>
              </a:rPr>
              <a:t>解决</a:t>
            </a:r>
            <a:r>
              <a:rPr sz="2850" b="1">
                <a:solidFill>
                  <a:srgbClr val="0F172A"/>
                </a:solidFill>
              </a:rPr>
              <a:t>校园二手交易的核心问题</a:t>
            </a:r>
            <a:r>
              <a:rPr lang="zh-CN" sz="2850" b="1">
                <a:solidFill>
                  <a:srgbClr val="0F172A"/>
                </a:solidFill>
                <a:ea typeface="宋体" panose="02010600030101010101" pitchFamily="2" charset="-122"/>
              </a:rPr>
              <a:t>：</a:t>
            </a:r>
            <a:r>
              <a:rPr sz="2850" b="1">
                <a:solidFill>
                  <a:srgbClr val="0F172A"/>
                </a:solidFill>
              </a:rPr>
              <a:t>信息分散和流程</a:t>
            </a:r>
            <a:r>
              <a:rPr lang="zh-CN" sz="2850" b="1">
                <a:solidFill>
                  <a:srgbClr val="0F172A"/>
                </a:solidFill>
                <a:ea typeface="宋体" panose="02010600030101010101" pitchFamily="2" charset="-122"/>
              </a:rPr>
              <a:t>不可靠</a:t>
            </a:r>
            <a:endParaRPr lang="zh-CN" sz="2850" b="1">
              <a:solidFill>
                <a:srgbClr val="0F172A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95400"/>
            <a:ext cx="11125200" cy="13335"/>
          </a:xfrm>
          <a:prstGeom prst="rect">
            <a:avLst/>
          </a:prstGeom>
          <a:solidFill>
            <a:srgbClr val="D8E3F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03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810250" y="1714500"/>
            <a:ext cx="542925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6450" y="2143125"/>
            <a:ext cx="5276850" cy="1842770"/>
          </a:xfrm>
          <a:prstGeom prst="roundRect">
            <a:avLst>
              <a:gd name="adj" fmla="val 3150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533400" y="1714500"/>
            <a:ext cx="1104900" cy="323850"/>
          </a:xfrm>
          <a:prstGeom prst="roundRect">
            <a:avLst>
              <a:gd name="adj" fmla="val 50000"/>
            </a:avLst>
          </a:prstGeom>
          <a:solidFill>
            <a:srgbClr val="1E6FFF">
              <a:alpha val="7843"/>
            </a:srgbClr>
          </a:solidFill>
          <a:ln w="9525">
            <a:solidFill>
              <a:srgbClr val="1E6FFF">
                <a:alpha val="26667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1180" y="1717675"/>
            <a:ext cx="1136015" cy="3568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E6FFF"/>
                </a:solidFill>
              </a:defRPr>
            </a:pPr>
            <a:r>
              <a:rPr sz="1600" b="1">
                <a:solidFill>
                  <a:srgbClr val="1E6FFF"/>
                </a:solidFill>
              </a:rPr>
              <a:t>项目定位</a:t>
            </a:r>
            <a:endParaRPr sz="1600" b="1">
              <a:solidFill>
                <a:srgbClr val="1E6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2190750"/>
            <a:ext cx="477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面向高校师生的 C2C 二手交易平台</a:t>
            </a:r>
            <a:endParaRPr sz="2400" b="1">
              <a:solidFill>
                <a:srgbClr val="0F172A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533400" y="3000375"/>
            <a:ext cx="85725" cy="85725"/>
          </a:xfrm>
          <a:prstGeom prst="ellipse">
            <a:avLst/>
          </a:prstGeom>
          <a:solidFill>
            <a:srgbClr val="1E6FFF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2905125"/>
            <a:ext cx="4533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把闲置信息集中到统一市场</a:t>
            </a:r>
            <a:endParaRPr sz="1575" b="0">
              <a:solidFill>
                <a:srgbClr val="0F172A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533400" y="3552825"/>
            <a:ext cx="85725" cy="85725"/>
          </a:xfrm>
          <a:prstGeom prst="ellipse">
            <a:avLst/>
          </a:prstGeom>
          <a:solidFill>
            <a:srgbClr val="1E6FF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62000" y="3457575"/>
            <a:ext cx="4626610" cy="654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通过分类、搜索、排序和推荐提高商品发现效率</a:t>
            </a:r>
            <a:endParaRPr sz="1575" b="0">
              <a:solidFill>
                <a:srgbClr val="0F172A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533400" y="4105275"/>
            <a:ext cx="85725" cy="85725"/>
          </a:xfrm>
          <a:prstGeom prst="ellipse">
            <a:avLst/>
          </a:prstGeom>
          <a:solidFill>
            <a:srgbClr val="1E6FFF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4010025"/>
            <a:ext cx="4626610" cy="5759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通过审核、举报、消息留痕和后台管理提高交易安全性</a:t>
            </a:r>
            <a:endParaRPr sz="1575" b="0">
              <a:solidFill>
                <a:srgbClr val="0F172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3400" y="5334000"/>
            <a:ext cx="1011936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4EC4"/>
                </a:solidFill>
              </a:defRPr>
            </a:pPr>
            <a:r>
              <a:rPr sz="2400" b="1">
                <a:solidFill>
                  <a:srgbClr val="0F4EC4"/>
                </a:solidFill>
              </a:rPr>
              <a:t>技术路线：Vue3 单页应用 + Spring Boot REST API + MySQL 数据持久化 + Redis 缓存与热度统计</a:t>
            </a:r>
            <a:endParaRPr sz="2400" b="1">
              <a:solidFill>
                <a:srgbClr val="0F4EC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11684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6FFF"/>
                </a:solidFill>
              </a:defRPr>
            </a:pPr>
            <a:r>
              <a:rPr sz="2000" b="1">
                <a:solidFill>
                  <a:srgbClr val="1E6FFF"/>
                </a:solidFill>
              </a:rPr>
              <a:t>第一章  系统简介</a:t>
            </a:r>
            <a:endParaRPr sz="2000" b="1">
              <a:solidFill>
                <a:srgbClr val="1E6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5905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总体用例覆盖买家、卖家和管理员三类角色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95400"/>
            <a:ext cx="11125200" cy="13335"/>
          </a:xfrm>
          <a:prstGeom prst="rect">
            <a:avLst/>
          </a:prstGeom>
          <a:solidFill>
            <a:srgbClr val="D8E3F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04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1666875"/>
            <a:ext cx="2190750" cy="4095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440940"/>
            <a:ext cx="2038350" cy="2503170"/>
          </a:xfrm>
          <a:prstGeom prst="roundRect">
            <a:avLst>
              <a:gd name="adj" fmla="val 3738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3009900" y="1666875"/>
            <a:ext cx="2190750" cy="4095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755" y="2360295"/>
            <a:ext cx="2225040" cy="2498725"/>
          </a:xfrm>
          <a:prstGeom prst="roundRect">
            <a:avLst>
              <a:gd name="adj" fmla="val 3738"/>
            </a:avLst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5486400" y="1666875"/>
            <a:ext cx="2190750" cy="4095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320925"/>
            <a:ext cx="2136775" cy="2623185"/>
          </a:xfrm>
          <a:prstGeom prst="roundRect">
            <a:avLst>
              <a:gd name="adj" fmla="val 3738"/>
            </a:avLst>
          </a:prstGeom>
        </p:spPr>
      </p:pic>
      <p:sp>
        <p:nvSpPr>
          <p:cNvPr id="11" name="圆角矩形 1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191500" y="1790700"/>
            <a:ext cx="2857500" cy="1143000"/>
          </a:xfrm>
          <a:prstGeom prst="roundRect">
            <a:avLst>
              <a:gd name="adj" fmla="val 10000"/>
            </a:avLst>
          </a:prstGeom>
          <a:solidFill>
            <a:srgbClr val="F4F8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439150" y="2000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E6FFF"/>
                </a:solidFill>
              </a:defRPr>
            </a:pPr>
            <a:r>
              <a:rPr lang="zh-CN" sz="1875" b="1">
                <a:solidFill>
                  <a:srgbClr val="1E6FFF"/>
                </a:solidFill>
                <a:ea typeface="宋体" panose="02010600030101010101" pitchFamily="2" charset="-122"/>
              </a:rPr>
              <a:t>买家</a:t>
            </a:r>
            <a:endParaRPr sz="1875" b="1">
              <a:solidFill>
                <a:srgbClr val="1E6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439150" y="24003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注册登录、浏览搜索、收藏、沟通、下单、举报</a:t>
            </a:r>
            <a:endParaRPr sz="1350" b="0">
              <a:solidFill>
                <a:srgbClr val="0F172A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191500" y="3200400"/>
            <a:ext cx="2857500" cy="11430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439150" y="3409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97316"/>
                </a:solidFill>
              </a:defRPr>
            </a:pPr>
            <a:r>
              <a:rPr sz="1875" b="1">
                <a:solidFill>
                  <a:srgbClr val="F97316"/>
                </a:solidFill>
              </a:rPr>
              <a:t>卖家</a:t>
            </a:r>
            <a:endParaRPr sz="1875" b="1">
              <a:solidFill>
                <a:srgbClr val="F9731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439150" y="38100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发布商品、维护商品、处理订单、填写物流</a:t>
            </a:r>
            <a:endParaRPr sz="1350" b="0">
              <a:solidFill>
                <a:srgbClr val="0F172A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191500" y="4610100"/>
            <a:ext cx="2857500" cy="11430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439150" y="4819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6A34A"/>
                </a:solidFill>
              </a:defRPr>
            </a:pPr>
            <a:r>
              <a:rPr sz="1875" b="1">
                <a:solidFill>
                  <a:srgbClr val="16A34A"/>
                </a:solidFill>
              </a:rPr>
              <a:t>管理员</a:t>
            </a:r>
            <a:endParaRPr sz="1875" b="1">
              <a:solidFill>
                <a:srgbClr val="16A3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439150" y="52197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商品审核、用户管理、举报处理、公告管理</a:t>
            </a:r>
            <a:endParaRPr sz="1350" b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285750"/>
            <a:ext cx="3635375" cy="459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6FFF"/>
                </a:solidFill>
              </a:defRPr>
            </a:pPr>
            <a:r>
              <a:rPr sz="1800" b="1">
                <a:solidFill>
                  <a:srgbClr val="1E6FFF"/>
                </a:solidFill>
              </a:rPr>
              <a:t>第一章  系统简介</a:t>
            </a:r>
            <a:endParaRPr sz="1800" b="1">
              <a:solidFill>
                <a:srgbClr val="1E6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5905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六大</a:t>
            </a:r>
            <a:r>
              <a:rPr lang="zh-CN" sz="2850" b="1">
                <a:solidFill>
                  <a:srgbClr val="0F172A"/>
                </a:solidFill>
                <a:ea typeface="宋体" panose="02010600030101010101" pitchFamily="2" charset="-122"/>
              </a:rPr>
              <a:t>核心</a:t>
            </a:r>
            <a:r>
              <a:rPr sz="2850" b="1">
                <a:solidFill>
                  <a:srgbClr val="0F172A"/>
                </a:solidFill>
              </a:rPr>
              <a:t>功能模块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95400"/>
            <a:ext cx="11125200" cy="13335"/>
          </a:xfrm>
          <a:prstGeom prst="rect">
            <a:avLst/>
          </a:prstGeom>
          <a:solidFill>
            <a:srgbClr val="D8E3F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05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1714500"/>
            <a:ext cx="4953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1769745"/>
            <a:ext cx="7706360" cy="1116330"/>
          </a:xfrm>
          <a:prstGeom prst="roundRect">
            <a:avLst>
              <a:gd name="adj" fmla="val 7692"/>
            </a:avLst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7953375" y="1676400"/>
            <a:ext cx="2952750" cy="36957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515" y="1676400"/>
            <a:ext cx="3691255" cy="4796790"/>
          </a:xfrm>
          <a:prstGeom prst="roundRect">
            <a:avLst>
              <a:gd name="adj" fmla="val 2721"/>
            </a:avLst>
          </a:prstGeom>
        </p:spPr>
      </p:pic>
      <p:sp>
        <p:nvSpPr>
          <p:cNvPr id="9" name="圆角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33400" y="3257550"/>
            <a:ext cx="3360136" cy="563636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28505" y="3398459"/>
            <a:ext cx="1078134" cy="3800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E6FFF"/>
                </a:solidFill>
              </a:defRPr>
            </a:pPr>
            <a:r>
              <a:rPr sz="1425" b="1">
                <a:solidFill>
                  <a:srgbClr val="1E6FFF"/>
                </a:solidFill>
              </a:rPr>
              <a:t>用户认证</a:t>
            </a:r>
            <a:endParaRPr sz="1425" b="1">
              <a:solidFill>
                <a:srgbClr val="1E6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701138" y="3385452"/>
            <a:ext cx="2224916" cy="540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注册、登录、资料、地址</a:t>
            </a:r>
            <a:endParaRPr sz="1200" b="0">
              <a:solidFill>
                <a:srgbClr val="0F172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327102" y="3257550"/>
            <a:ext cx="3360136" cy="563636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522207" y="3398459"/>
            <a:ext cx="1068018" cy="3800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E6FFF"/>
                </a:solidFill>
              </a:defRPr>
            </a:pPr>
            <a:r>
              <a:rPr sz="1425" b="1">
                <a:solidFill>
                  <a:srgbClr val="1E6FFF"/>
                </a:solidFill>
              </a:rPr>
              <a:t>商品管理</a:t>
            </a:r>
            <a:endParaRPr sz="1425" b="1">
              <a:solidFill>
                <a:srgbClr val="1E6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578663" y="3373890"/>
            <a:ext cx="2282002" cy="5990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发布、搜索、详情、收藏</a:t>
            </a:r>
            <a:endParaRPr sz="1200" b="0">
              <a:solidFill>
                <a:srgbClr val="0F172A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33400" y="4081325"/>
            <a:ext cx="3360136" cy="563636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28505" y="4222234"/>
            <a:ext cx="1055011" cy="2998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E6FFF"/>
                </a:solidFill>
              </a:defRPr>
            </a:pPr>
            <a:r>
              <a:rPr sz="1425" b="1">
                <a:solidFill>
                  <a:srgbClr val="1E6FFF"/>
                </a:solidFill>
              </a:rPr>
              <a:t>订单交易</a:t>
            </a:r>
            <a:endParaRPr sz="1425" b="1">
              <a:solidFill>
                <a:srgbClr val="1E6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705473" y="4190439"/>
            <a:ext cx="2376664" cy="7370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购物车、支付、发货、收货</a:t>
            </a:r>
            <a:endParaRPr sz="1200" b="0">
              <a:solidFill>
                <a:srgbClr val="0F172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327102" y="4081325"/>
            <a:ext cx="3360136" cy="563636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4522207" y="4222234"/>
            <a:ext cx="1068018" cy="3685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E6FFF"/>
                </a:solidFill>
              </a:defRPr>
            </a:pPr>
            <a:r>
              <a:rPr sz="1425" b="1">
                <a:solidFill>
                  <a:srgbClr val="1E6FFF"/>
                </a:solidFill>
              </a:rPr>
              <a:t>消息通知</a:t>
            </a:r>
            <a:endParaRPr sz="1425" b="1">
              <a:solidFill>
                <a:srgbClr val="1E6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649479" y="4243913"/>
            <a:ext cx="1910581" cy="4017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站内留言、系统通知</a:t>
            </a:r>
            <a:endParaRPr sz="1200" b="0">
              <a:solidFill>
                <a:srgbClr val="0F172A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33400" y="4905101"/>
            <a:ext cx="3360136" cy="563636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28505" y="5046010"/>
            <a:ext cx="1126549" cy="3201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E6FFF"/>
                </a:solidFill>
              </a:defRPr>
            </a:pPr>
            <a:r>
              <a:rPr sz="1425" b="1">
                <a:solidFill>
                  <a:srgbClr val="1E6FFF"/>
                </a:solidFill>
              </a:rPr>
              <a:t>后台管理</a:t>
            </a:r>
            <a:endParaRPr sz="1425" b="1">
              <a:solidFill>
                <a:srgbClr val="1E6F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1705473" y="5046010"/>
            <a:ext cx="2238646" cy="7637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审核、公告、用户、数据</a:t>
            </a:r>
            <a:endParaRPr sz="1200" b="0">
              <a:solidFill>
                <a:srgbClr val="0F172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4327102" y="4905101"/>
            <a:ext cx="3360136" cy="563636"/>
          </a:xfrm>
          <a:prstGeom prst="roundRect">
            <a:avLst>
              <a:gd name="adj" fmla="val 23077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4522207" y="5046010"/>
            <a:ext cx="1056456" cy="3193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97316"/>
                </a:solidFill>
              </a:defRPr>
            </a:pPr>
            <a:r>
              <a:rPr sz="1425" b="1">
                <a:solidFill>
                  <a:srgbClr val="F97316"/>
                </a:solidFill>
              </a:rPr>
              <a:t>扩展治理</a:t>
            </a:r>
            <a:endParaRPr sz="1425" b="1">
              <a:solidFill>
                <a:srgbClr val="F97316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5469636" y="5068014"/>
            <a:ext cx="2354986" cy="72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rPr lang="en-US" sz="1200" b="0">
                <a:solidFill>
                  <a:srgbClr val="0F172A"/>
                </a:solidFill>
              </a:rPr>
              <a:t>     </a:t>
            </a:r>
            <a:r>
              <a:rPr sz="1200" b="0">
                <a:solidFill>
                  <a:srgbClr val="0F172A"/>
                </a:solidFill>
              </a:rPr>
              <a:t>推荐、敏感词、举报、信誉</a:t>
            </a:r>
            <a:endParaRPr sz="1200" b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2857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6FFF"/>
                </a:solidFill>
              </a:defRPr>
            </a:pPr>
            <a:r>
              <a:rPr sz="1125" b="1">
                <a:solidFill>
                  <a:srgbClr val="1E6FFF"/>
                </a:solidFill>
              </a:rPr>
              <a:t>第二章  重要设计和实现</a:t>
            </a:r>
            <a:endParaRPr sz="1125" b="1">
              <a:solidFill>
                <a:srgbClr val="1E6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5905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前后端分离让展示、业务和数据职责清晰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95400"/>
            <a:ext cx="11125200" cy="13335"/>
          </a:xfrm>
          <a:prstGeom prst="rect">
            <a:avLst/>
          </a:prstGeom>
          <a:solidFill>
            <a:srgbClr val="D8E3F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06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3400" y="1695450"/>
            <a:ext cx="6055995" cy="1305560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42950" y="1838325"/>
            <a:ext cx="1621790" cy="5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E6FFF"/>
                </a:solidFill>
              </a:defRPr>
            </a:pPr>
            <a:r>
              <a:rPr sz="1575" b="1">
                <a:solidFill>
                  <a:srgbClr val="1E6FFF"/>
                </a:solidFill>
              </a:rPr>
              <a:t>前端展示层</a:t>
            </a:r>
            <a:endParaRPr sz="1575" b="1">
              <a:solidFill>
                <a:srgbClr val="1E6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343150" y="1857375"/>
            <a:ext cx="3568700" cy="513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lvl="0" algn="l">
              <a:buClrTx/>
              <a:buSzTx/>
              <a:buFontTx/>
              <a:defRPr sz="1350" b="0">
                <a:solidFill>
                  <a:srgbClr val="0F172A"/>
                </a:solidFill>
              </a:defRPr>
            </a:pPr>
            <a:r>
              <a:rPr sz="1800">
                <a:sym typeface="+mn-ea"/>
              </a:rPr>
              <a:t>Vue3 / Router / Pinia / Axios</a:t>
            </a:r>
            <a:endParaRPr sz="1800">
              <a:sym typeface="+mn-ea"/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33400" y="2419350"/>
            <a:ext cx="6055995" cy="130556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42950" y="2562225"/>
            <a:ext cx="1621790" cy="5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接口控制层</a:t>
            </a:r>
            <a:endParaRPr sz="1575" b="1">
              <a:solidFill>
                <a:srgbClr val="0F172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343150" y="2581275"/>
            <a:ext cx="3568700" cy="513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lvl="0" algn="l">
              <a:buClrTx/>
              <a:buSzTx/>
              <a:buFontTx/>
              <a:defRPr sz="1350" b="0">
                <a:solidFill>
                  <a:srgbClr val="0F172A"/>
                </a:solidFill>
              </a:defRPr>
            </a:pPr>
            <a:r>
              <a:rPr sz="1800">
                <a:sym typeface="+mn-ea"/>
              </a:rPr>
              <a:t>Controller 接收 REST 请求</a:t>
            </a:r>
            <a:endParaRPr sz="1800">
              <a:sym typeface="+mn-ea"/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33400" y="3143250"/>
            <a:ext cx="6055995" cy="1305560"/>
          </a:xfrm>
          <a:prstGeom prst="roundRect">
            <a:avLst>
              <a:gd name="adj" fmla="val 21429"/>
            </a:avLst>
          </a:prstGeom>
          <a:solidFill>
            <a:srgbClr val="FFF7ED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42950" y="3286125"/>
            <a:ext cx="1621790" cy="5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业务逻辑层</a:t>
            </a:r>
            <a:endParaRPr sz="1575" b="1">
              <a:solidFill>
                <a:srgbClr val="F9731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343150" y="3305175"/>
            <a:ext cx="3998595" cy="716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lvl="0" algn="l">
              <a:buClrTx/>
              <a:buSzTx/>
              <a:buFontTx/>
              <a:defRPr sz="1350" b="0">
                <a:solidFill>
                  <a:srgbClr val="0F172A"/>
                </a:solidFill>
              </a:defRPr>
            </a:pPr>
            <a:r>
              <a:rPr sz="1800">
                <a:sym typeface="+mn-ea"/>
              </a:rPr>
              <a:t>Service 处理订单、审核、推荐、通知</a:t>
            </a:r>
            <a:endParaRPr sz="1800">
              <a:sym typeface="+mn-ea"/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33400" y="3867150"/>
            <a:ext cx="6055995" cy="1305560"/>
          </a:xfrm>
          <a:prstGeom prst="roundRect">
            <a:avLst>
              <a:gd name="adj" fmla="val 21429"/>
            </a:avLst>
          </a:prstGeom>
          <a:solidFill>
            <a:srgbClr val="F0FDF4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42950" y="4010025"/>
            <a:ext cx="1621790" cy="5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数据持久层</a:t>
            </a:r>
            <a:endParaRPr sz="1575" b="1">
              <a:solidFill>
                <a:srgbClr val="16A3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343150" y="4029075"/>
            <a:ext cx="3568700" cy="513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Mapper + MySQL 14 张业务表</a:t>
            </a:r>
            <a:endParaRPr sz="1800" b="0">
              <a:solidFill>
                <a:srgbClr val="0F172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533400" y="4591050"/>
            <a:ext cx="6055995" cy="1305560"/>
          </a:xfrm>
          <a:prstGeom prst="roundRect">
            <a:avLst>
              <a:gd name="adj" fmla="val 21429"/>
            </a:avLst>
          </a:prstGeom>
          <a:solidFill>
            <a:srgbClr val="FEF2F2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42950" y="4733925"/>
            <a:ext cx="1621790" cy="5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EF4444"/>
                </a:solidFill>
              </a:defRPr>
            </a:pPr>
            <a:r>
              <a:rPr sz="1575" b="1">
                <a:solidFill>
                  <a:srgbClr val="EF4444"/>
                </a:solidFill>
              </a:rPr>
              <a:t>缓存增强层</a:t>
            </a:r>
            <a:endParaRPr sz="1575" b="1">
              <a:solidFill>
                <a:srgbClr val="EF4444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279650" y="4713605"/>
            <a:ext cx="4521835" cy="1101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Redis 验证码、限流、热度排行、缓存降级</a:t>
            </a:r>
            <a:endParaRPr sz="1800" b="0">
              <a:solidFill>
                <a:srgbClr val="0F172A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960235" y="1807210"/>
            <a:ext cx="5122545" cy="336169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6864350" y="4940935"/>
            <a:ext cx="1489075" cy="108902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47890" y="5017135"/>
            <a:ext cx="1012190" cy="393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E6FFF"/>
                </a:solidFill>
              </a:defRPr>
            </a:pPr>
            <a:r>
              <a:rPr sz="2250" b="1">
                <a:solidFill>
                  <a:srgbClr val="1E6FFF"/>
                </a:solidFill>
              </a:rPr>
              <a:t>14</a:t>
            </a:r>
            <a:endParaRPr sz="2250" b="1">
              <a:solidFill>
                <a:srgbClr val="1E6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04380" y="5417185"/>
            <a:ext cx="1082675" cy="3886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600" b="0">
                <a:solidFill>
                  <a:srgbClr val="64748B"/>
                </a:solidFill>
              </a:rPr>
              <a:t>页面视图</a:t>
            </a:r>
            <a:endParaRPr sz="1600" b="0">
              <a:solidFill>
                <a:srgbClr val="64748B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579485" y="4893310"/>
            <a:ext cx="1489075" cy="108902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904605" y="5023485"/>
            <a:ext cx="1012190" cy="393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A34A"/>
                </a:solidFill>
              </a:defRPr>
            </a:pPr>
            <a:r>
              <a:rPr sz="2250" b="1">
                <a:solidFill>
                  <a:srgbClr val="16A34A"/>
                </a:solidFill>
              </a:rPr>
              <a:t>14</a:t>
            </a:r>
            <a:endParaRPr sz="2250" b="1">
              <a:solidFill>
                <a:srgbClr val="16A34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69985" y="5417185"/>
            <a:ext cx="1122045" cy="3886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业务表</a:t>
            </a:r>
            <a:endParaRPr sz="1800" b="0">
              <a:solidFill>
                <a:srgbClr val="64748B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10294620" y="4893310"/>
            <a:ext cx="1548130" cy="108902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0560685" y="5023485"/>
            <a:ext cx="1071880" cy="393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97316"/>
                </a:solidFill>
              </a:defRPr>
            </a:pPr>
            <a:r>
              <a:rPr sz="2250" b="1">
                <a:solidFill>
                  <a:srgbClr val="F97316"/>
                </a:solidFill>
              </a:rPr>
              <a:t>Redis</a:t>
            </a:r>
            <a:endParaRPr sz="2250" b="1">
              <a:solidFill>
                <a:srgbClr val="F97316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355580" y="5373370"/>
            <a:ext cx="1376680" cy="5124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缓存与热度</a:t>
            </a:r>
            <a:endParaRPr sz="1800" b="0">
              <a:solidFill>
                <a:srgbClr val="64748B"/>
              </a:solidFill>
            </a:endParaRPr>
          </a:p>
        </p:txBody>
      </p:sp>
      <p:pic>
        <p:nvPicPr>
          <p:cNvPr id="31" name="Picture"/>
          <p:cNvPicPr>
            <a:picLocks noChangeAspect="1" noChangeArrowheads="1"/>
          </p:cNvPicPr>
          <p:nvPr/>
        </p:nvPicPr>
        <p:blipFill>
          <a:blip r:embed="rId16"/>
          <a:srcRect l="11369"/>
          <a:stretch>
            <a:fillRect/>
          </a:stretch>
        </p:blipFill>
        <p:spPr>
          <a:xfrm>
            <a:off x="6911340" y="1059180"/>
            <a:ext cx="4747260" cy="38341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2857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6FFF"/>
                </a:solidFill>
              </a:defRPr>
            </a:pPr>
            <a:r>
              <a:rPr sz="1125" b="1">
                <a:solidFill>
                  <a:srgbClr val="1E6FFF"/>
                </a:solidFill>
              </a:rPr>
              <a:t>第二章  重要设计和实现</a:t>
            </a:r>
            <a:endParaRPr sz="1125" b="1">
              <a:solidFill>
                <a:srgbClr val="1E6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5905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状态模式约束商品和订单只能按合法路径流转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95400"/>
            <a:ext cx="11125200" cy="13335"/>
          </a:xfrm>
          <a:prstGeom prst="rect">
            <a:avLst/>
          </a:prstGeom>
          <a:solidFill>
            <a:srgbClr val="D8E3F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07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7526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E6FFF"/>
                </a:solidFill>
              </a:defRPr>
            </a:pPr>
            <a:r>
              <a:rPr sz="1800" b="1">
                <a:solidFill>
                  <a:srgbClr val="1E6FFF"/>
                </a:solidFill>
              </a:rPr>
              <a:t>商品状态</a:t>
            </a:r>
            <a:endParaRPr sz="1800" b="1">
              <a:solidFill>
                <a:srgbClr val="1E6F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33400" y="2190750"/>
            <a:ext cx="1304925" cy="609600"/>
          </a:xfrm>
          <a:prstGeom prst="roundRect">
            <a:avLst>
              <a:gd name="adj" fmla="val 18750"/>
            </a:avLst>
          </a:prstGeom>
          <a:solidFill>
            <a:srgbClr val="1E6FFF">
              <a:alpha val="9412"/>
            </a:srgbClr>
          </a:solidFill>
          <a:ln w="9525">
            <a:solidFill>
              <a:srgbClr val="1E6FFF">
                <a:alpha val="4000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23570" y="2340610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E6FFF"/>
                </a:solidFill>
              </a:defRPr>
            </a:pPr>
            <a:r>
              <a:rPr sz="1800" b="1">
                <a:solidFill>
                  <a:srgbClr val="1E6FFF"/>
                </a:solidFill>
              </a:rPr>
              <a:t>待审核</a:t>
            </a:r>
            <a:endParaRPr sz="1800" b="1">
              <a:solidFill>
                <a:srgbClr val="1E6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19275" y="23431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971675" y="2190750"/>
            <a:ext cx="1304925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991360" y="2339340"/>
            <a:ext cx="1294130" cy="3308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在售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257550" y="23431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3409950" y="2190750"/>
            <a:ext cx="1304925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500755" y="2314575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已</a:t>
            </a:r>
            <a:r>
              <a:rPr sz="1800" b="1">
                <a:solidFill>
                  <a:srgbClr val="0F172A"/>
                </a:solidFill>
              </a:rPr>
              <a:t>下架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95825" y="23431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848225" y="2190750"/>
            <a:ext cx="1304925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944745" y="2340610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已</a:t>
            </a:r>
            <a:r>
              <a:rPr sz="1800" b="1">
                <a:solidFill>
                  <a:srgbClr val="0F172A"/>
                </a:solidFill>
              </a:rPr>
              <a:t>售出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33400" y="32766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rPr sz="1800" b="1">
                <a:solidFill>
                  <a:srgbClr val="F97316"/>
                </a:solidFill>
              </a:rPr>
              <a:t>订单状态</a:t>
            </a:r>
            <a:endParaRPr sz="1800" b="1">
              <a:solidFill>
                <a:srgbClr val="F97316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33400" y="3714750"/>
            <a:ext cx="1304925" cy="609600"/>
          </a:xfrm>
          <a:prstGeom prst="roundRect">
            <a:avLst>
              <a:gd name="adj" fmla="val 18750"/>
            </a:avLst>
          </a:prstGeom>
          <a:solidFill>
            <a:srgbClr val="F97316">
              <a:alpha val="9412"/>
            </a:srgbClr>
          </a:solidFill>
          <a:ln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3905250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rPr sz="1200" b="1">
                <a:solidFill>
                  <a:srgbClr val="F97316"/>
                </a:solidFill>
              </a:rPr>
              <a:t>待付款</a:t>
            </a:r>
            <a:endParaRPr sz="1200" b="1">
              <a:solidFill>
                <a:srgbClr val="F97316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819275" y="38671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971675" y="3714750"/>
            <a:ext cx="1304925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047875" y="3905250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已付款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257550" y="38671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3409950" y="3714750"/>
            <a:ext cx="1304925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486150" y="3905250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已发货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695825" y="38671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4848225" y="3714750"/>
            <a:ext cx="1304925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924425" y="3905250"/>
            <a:ext cx="1152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已完成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533400" y="4857750"/>
            <a:ext cx="5619750" cy="838200"/>
          </a:xfrm>
          <a:prstGeom prst="roundRect">
            <a:avLst>
              <a:gd name="adj" fmla="val 13636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62000" y="50292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设计价值</a:t>
            </a:r>
            <a:endParaRPr sz="1725" b="1">
              <a:solidFill>
                <a:srgbClr val="F97316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991360" y="50101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减少非法操作，例如未付款不能发货、已完成订单不能再次取消。</a:t>
            </a:r>
            <a:endParaRPr sz="1800" b="0">
              <a:solidFill>
                <a:srgbClr val="0F172A"/>
              </a:solidFill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945" y="4448810"/>
            <a:ext cx="4968240" cy="1678305"/>
          </a:xfrm>
          <a:prstGeom prst="roundRect">
            <a:avLst>
              <a:gd name="adj" fmla="val 2139"/>
            </a:avLst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235" y="1106170"/>
            <a:ext cx="3683635" cy="32181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2857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6FFF"/>
                </a:solidFill>
              </a:defRPr>
            </a:pPr>
            <a:r>
              <a:rPr sz="1125" b="1">
                <a:solidFill>
                  <a:srgbClr val="1E6FFF"/>
                </a:solidFill>
              </a:rPr>
              <a:t>第二章  重要设计和实现</a:t>
            </a:r>
            <a:endParaRPr sz="1125" b="1">
              <a:solidFill>
                <a:srgbClr val="1E6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5905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策略模式让商品展示可以按场景选择不同排序逻辑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95400"/>
            <a:ext cx="11125200" cy="13335"/>
          </a:xfrm>
          <a:prstGeom prst="rect">
            <a:avLst/>
          </a:prstGeom>
          <a:solidFill>
            <a:srgbClr val="D8E3F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08</a:t>
            </a:r>
            <a:endParaRPr sz="1050" b="0">
              <a:solidFill>
                <a:srgbClr val="64748B"/>
              </a:solidFill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1185545"/>
            <a:ext cx="5214620" cy="2487930"/>
          </a:xfrm>
          <a:prstGeom prst="roundRect">
            <a:avLst>
              <a:gd name="adj" fmla="val 3922"/>
            </a:avLst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70" y="4004945"/>
            <a:ext cx="4958080" cy="1903095"/>
          </a:xfrm>
          <a:prstGeom prst="roundRect">
            <a:avLst>
              <a:gd name="adj" fmla="val 5970"/>
            </a:avLst>
          </a:prstGeom>
        </p:spPr>
      </p:pic>
      <p:sp>
        <p:nvSpPr>
          <p:cNvPr id="9" name="圆角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286500" y="1809750"/>
            <a:ext cx="5076190" cy="66962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545710" y="1993357"/>
            <a:ext cx="1188044" cy="259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最新策略</a:t>
            </a:r>
            <a:endParaRPr sz="1500" b="1">
              <a:solidFill>
                <a:srgbClr val="0F172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653020" y="2014855"/>
            <a:ext cx="3277235" cy="237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2000" b="0">
                <a:solidFill>
                  <a:srgbClr val="64748B"/>
                </a:solidFill>
              </a:rPr>
              <a:t>发布时间越近，排序越靠前</a:t>
            </a:r>
            <a:endParaRPr sz="2000" b="0">
              <a:solidFill>
                <a:srgbClr val="64748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286500" y="2738585"/>
            <a:ext cx="5076190" cy="66962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545710" y="2922192"/>
            <a:ext cx="1188044" cy="259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热度策略</a:t>
            </a:r>
            <a:endParaRPr sz="1500" b="1">
              <a:solidFill>
                <a:srgbClr val="0F172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607935" y="2891790"/>
            <a:ext cx="3502025" cy="237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1275" b="0">
                <a:solidFill>
                  <a:srgbClr val="64748B"/>
                </a:solidFill>
              </a:defRPr>
            </a:pPr>
            <a:r>
              <a:rPr sz="2000" b="0">
                <a:solidFill>
                  <a:srgbClr val="64748B"/>
                </a:solidFill>
              </a:rPr>
              <a:t>浏览量和收藏行为提高曝光</a:t>
            </a:r>
            <a:endParaRPr sz="2000" b="0">
              <a:solidFill>
                <a:srgbClr val="64748B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286500" y="3667420"/>
            <a:ext cx="5076190" cy="66962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545710" y="3851026"/>
            <a:ext cx="1188044" cy="259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价格策略</a:t>
            </a:r>
            <a:endParaRPr sz="1500" b="1">
              <a:solidFill>
                <a:srgbClr val="0F172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752256" y="3852307"/>
            <a:ext cx="3024113" cy="2376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1275" b="0">
                <a:solidFill>
                  <a:srgbClr val="64748B"/>
                </a:solidFill>
              </a:defRPr>
            </a:pPr>
            <a:r>
              <a:rPr sz="2000" b="0">
                <a:solidFill>
                  <a:srgbClr val="64748B"/>
                </a:solidFill>
              </a:rPr>
              <a:t>支持升序或降序比较</a:t>
            </a:r>
            <a:endParaRPr sz="2000" b="0">
              <a:solidFill>
                <a:srgbClr val="64748B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286500" y="4596254"/>
            <a:ext cx="5076190" cy="669625"/>
          </a:xfrm>
          <a:prstGeom prst="roundRect">
            <a:avLst>
              <a:gd name="adj" fmla="val 19355"/>
            </a:avLst>
          </a:prstGeom>
          <a:solidFill>
            <a:srgbClr val="F4F8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545710" y="4779861"/>
            <a:ext cx="1188044" cy="259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E6FFF"/>
                </a:solidFill>
              </a:defRPr>
            </a:pPr>
            <a:r>
              <a:rPr sz="1500" b="1">
                <a:solidFill>
                  <a:srgbClr val="1E6FFF"/>
                </a:solidFill>
              </a:rPr>
              <a:t>行为推荐</a:t>
            </a:r>
            <a:endParaRPr sz="1500" b="1">
              <a:solidFill>
                <a:srgbClr val="1E6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684135" y="4650740"/>
            <a:ext cx="3973830" cy="6330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2000" b="0">
                <a:solidFill>
                  <a:srgbClr val="64748B"/>
                </a:solidFill>
              </a:rPr>
              <a:t>结合浏览、搜索、收藏、购买形成画像</a:t>
            </a:r>
            <a:endParaRPr sz="2000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2857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6FFF"/>
                </a:solidFill>
              </a:defRPr>
            </a:pPr>
            <a:r>
              <a:rPr sz="1125" b="1">
                <a:solidFill>
                  <a:srgbClr val="1E6FFF"/>
                </a:solidFill>
              </a:rPr>
              <a:t>第二章  重要设计和实现</a:t>
            </a:r>
            <a:endParaRPr sz="1125" b="1">
              <a:solidFill>
                <a:srgbClr val="1E6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5905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外观模式把复杂交易流程封装成简单接口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1180" y="1334770"/>
            <a:ext cx="11125200" cy="13335"/>
          </a:xfrm>
          <a:prstGeom prst="rect">
            <a:avLst/>
          </a:prstGeom>
          <a:solidFill>
            <a:srgbClr val="D8E3F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09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7145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前端只关心一个动作</a:t>
            </a:r>
            <a:endParaRPr sz="2025" b="1">
              <a:solidFill>
                <a:srgbClr val="0F172A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33400" y="2238375"/>
            <a:ext cx="3048000" cy="819150"/>
          </a:xfrm>
          <a:prstGeom prst="roundRect">
            <a:avLst>
              <a:gd name="adj" fmla="val 13953"/>
            </a:avLst>
          </a:prstGeom>
          <a:solidFill>
            <a:srgbClr val="F4F8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4955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E6FFF"/>
                </a:solidFill>
              </a:defRPr>
            </a:pPr>
            <a:r>
              <a:rPr sz="1875" b="1">
                <a:solidFill>
                  <a:srgbClr val="1E6FFF"/>
                </a:solidFill>
              </a:rPr>
              <a:t>点击“立即购买”</a:t>
            </a:r>
            <a:endParaRPr sz="1875" b="1">
              <a:solidFill>
                <a:srgbClr val="1E6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3476625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后端封装完整业务</a:t>
            </a:r>
            <a:endParaRPr sz="2025" b="1">
              <a:solidFill>
                <a:srgbClr val="0F172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33400" y="4000500"/>
            <a:ext cx="1055370" cy="609600"/>
          </a:xfrm>
          <a:prstGeom prst="roundRect">
            <a:avLst>
              <a:gd name="adj" fmla="val 18750"/>
            </a:avLst>
          </a:prstGeom>
          <a:solidFill>
            <a:srgbClr val="16A34A">
              <a:alpha val="9412"/>
            </a:srgbClr>
          </a:solidFill>
          <a:ln w="9525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4191000"/>
            <a:ext cx="9029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rPr sz="1200" b="1">
                <a:solidFill>
                  <a:srgbClr val="16A34A"/>
                </a:solidFill>
              </a:rPr>
              <a:t>身份校验</a:t>
            </a:r>
            <a:endParaRPr sz="1200" b="1">
              <a:solidFill>
                <a:srgbClr val="16A34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569720" y="41529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722120" y="4000500"/>
            <a:ext cx="105537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798320" y="4191000"/>
            <a:ext cx="9029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商品校验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758440" y="41529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910840" y="4000500"/>
            <a:ext cx="105537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987040" y="4191000"/>
            <a:ext cx="9029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创建订单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47160" y="41529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099560" y="4000500"/>
            <a:ext cx="105537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175760" y="4191000"/>
            <a:ext cx="9029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更新状态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35880" y="41529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5288280" y="4000500"/>
            <a:ext cx="105537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364480" y="4191000"/>
            <a:ext cx="9029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发送通知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43865" y="5143500"/>
            <a:ext cx="5899785" cy="781685"/>
          </a:xfrm>
          <a:prstGeom prst="roundRect">
            <a:avLst>
              <a:gd name="adj" fmla="val 20690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11200" y="5204460"/>
            <a:ext cx="529526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F172A"/>
                </a:solidFill>
              </a:defRPr>
            </a:pPr>
            <a:r>
              <a:rPr sz="2000" b="0">
                <a:solidFill>
                  <a:srgbClr val="0F172A"/>
                </a:solidFill>
              </a:rPr>
              <a:t>Service 层提供统一入口，隐藏内部多表更新、日志记录和通知推送细节</a:t>
            </a:r>
            <a:r>
              <a:rPr sz="1425" b="0">
                <a:solidFill>
                  <a:srgbClr val="0F172A"/>
                </a:solidFill>
              </a:rPr>
              <a:t>。</a:t>
            </a:r>
            <a:endParaRPr sz="1425" b="0">
              <a:solidFill>
                <a:srgbClr val="0F172A"/>
              </a:solidFill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6135" y="285750"/>
            <a:ext cx="4835525" cy="2857500"/>
          </a:xfrm>
          <a:prstGeom prst="roundRect">
            <a:avLst>
              <a:gd name="adj" fmla="val 4878"/>
            </a:avLst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390" y="3284855"/>
            <a:ext cx="4491990" cy="2666365"/>
          </a:xfrm>
          <a:prstGeom prst="roundRect">
            <a:avLst>
              <a:gd name="adj" fmla="val 5195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2857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6FFF"/>
                </a:solidFill>
              </a:defRPr>
            </a:pPr>
            <a:r>
              <a:rPr sz="1125" b="1">
                <a:solidFill>
                  <a:srgbClr val="1E6FFF"/>
                </a:solidFill>
              </a:rPr>
              <a:t>第二章  重要设计和实现</a:t>
            </a:r>
            <a:endParaRPr sz="1125" b="1">
              <a:solidFill>
                <a:srgbClr val="1E6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5905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推荐算法根据用户行为画像和商品热度综合评分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95400"/>
            <a:ext cx="11125200" cy="13335"/>
          </a:xfrm>
          <a:prstGeom prst="rect">
            <a:avLst/>
          </a:prstGeom>
          <a:solidFill>
            <a:srgbClr val="D8E3F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10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3400" y="1762125"/>
            <a:ext cx="1123950" cy="91440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3900" y="194310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1E6FFF"/>
                </a:solidFill>
              </a:defRPr>
            </a:pPr>
            <a:r>
              <a:rPr sz="2400" b="1">
                <a:solidFill>
                  <a:srgbClr val="1E6FFF"/>
                </a:solidFill>
              </a:rPr>
              <a:t>8</a:t>
            </a:r>
            <a:endParaRPr sz="2400" b="1">
              <a:solidFill>
                <a:srgbClr val="1E6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23900" y="23241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浏览</a:t>
            </a:r>
            <a:endParaRPr sz="1350" b="1">
              <a:solidFill>
                <a:srgbClr val="0F172A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885950" y="1762125"/>
            <a:ext cx="1123950" cy="91440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076450" y="194310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0F4EC4"/>
                </a:solidFill>
              </a:defRPr>
            </a:pPr>
            <a:r>
              <a:rPr sz="2400" b="1">
                <a:solidFill>
                  <a:srgbClr val="0F4EC4"/>
                </a:solidFill>
              </a:rPr>
              <a:t>14</a:t>
            </a:r>
            <a:endParaRPr sz="2400" b="1">
              <a:solidFill>
                <a:srgbClr val="0F4EC4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076450" y="23241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搜索</a:t>
            </a:r>
            <a:endParaRPr sz="1350" b="1">
              <a:solidFill>
                <a:srgbClr val="0F172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38500" y="1762125"/>
            <a:ext cx="1123950" cy="91440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429000" y="194310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F97316"/>
                </a:solidFill>
              </a:defRPr>
            </a:pPr>
            <a:r>
              <a:rPr sz="2400" b="1">
                <a:solidFill>
                  <a:srgbClr val="F97316"/>
                </a:solidFill>
              </a:rPr>
              <a:t>30</a:t>
            </a:r>
            <a:endParaRPr sz="2400" b="1">
              <a:solidFill>
                <a:srgbClr val="F9731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429000" y="23241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收藏</a:t>
            </a:r>
            <a:endParaRPr sz="1350" b="1">
              <a:solidFill>
                <a:srgbClr val="0F172A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591050" y="1762125"/>
            <a:ext cx="1123950" cy="9144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781550" y="194310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16A34A"/>
                </a:solidFill>
              </a:defRPr>
            </a:pPr>
            <a:r>
              <a:rPr sz="2400" b="1">
                <a:solidFill>
                  <a:srgbClr val="16A34A"/>
                </a:solidFill>
              </a:rPr>
              <a:t>45</a:t>
            </a:r>
            <a:endParaRPr sz="2400" b="1">
              <a:solidFill>
                <a:srgbClr val="16A3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781550" y="23241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购买</a:t>
            </a:r>
            <a:endParaRPr sz="1350" b="1">
              <a:solidFill>
                <a:srgbClr val="0F172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33400" y="3143250"/>
            <a:ext cx="628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E6FFF"/>
                </a:solidFill>
              </a:defRPr>
            </a:pPr>
            <a:r>
              <a:rPr sz="1875" b="1">
                <a:solidFill>
                  <a:srgbClr val="1E6FFF"/>
                </a:solidFill>
              </a:rPr>
              <a:t>行为采集 → 时间衰减 → 兴趣画像 → 候选商品 → 综合评分 → 推荐展示</a:t>
            </a:r>
            <a:endParaRPr sz="1875" b="1">
              <a:solidFill>
                <a:srgbClr val="1E6FFF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533400" y="3905250"/>
            <a:ext cx="85725" cy="85725"/>
          </a:xfrm>
          <a:prstGeom prst="ellipse">
            <a:avLst/>
          </a:prstGeom>
          <a:solidFill>
            <a:srgbClr val="1E6FFF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62000" y="3810000"/>
            <a:ext cx="567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画像维度：分类偏好、关键词偏好、成色偏好、价格偏好</a:t>
            </a:r>
            <a:endParaRPr sz="1500" b="0">
              <a:solidFill>
                <a:srgbClr val="0F172A"/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533400" y="4419600"/>
            <a:ext cx="85725" cy="85725"/>
          </a:xfrm>
          <a:prstGeom prst="ellipse">
            <a:avLst/>
          </a:prstGeom>
          <a:solidFill>
            <a:srgbClr val="1E6FFF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2000" y="4324350"/>
            <a:ext cx="567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商品因素：浏览量、收藏/交易热度、发布时间新鲜度</a:t>
            </a:r>
            <a:endParaRPr sz="1500" b="0">
              <a:solidFill>
                <a:srgbClr val="0F172A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533400" y="4933950"/>
            <a:ext cx="85725" cy="85725"/>
          </a:xfrm>
          <a:prstGeom prst="ellipse">
            <a:avLst/>
          </a:prstGeom>
          <a:solidFill>
            <a:srgbClr val="1E6FFF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62000" y="4838700"/>
            <a:ext cx="567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冷启动：行为较少时优先推荐热门商品和最新商品</a:t>
            </a:r>
            <a:endParaRPr sz="1500" b="0">
              <a:solidFill>
                <a:srgbClr val="0F172A"/>
              </a:solidFill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0" y="3644900"/>
            <a:ext cx="6028055" cy="2607945"/>
          </a:xfrm>
          <a:prstGeom prst="roundRect">
            <a:avLst>
              <a:gd name="adj" fmla="val 2548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2857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6FFF"/>
                </a:solidFill>
              </a:defRPr>
            </a:pPr>
            <a:r>
              <a:rPr sz="1125" b="1">
                <a:solidFill>
                  <a:srgbClr val="1E6FFF"/>
                </a:solidFill>
              </a:rPr>
              <a:t>第二章  重要设计和实现</a:t>
            </a:r>
            <a:endParaRPr sz="1125" b="1">
              <a:solidFill>
                <a:srgbClr val="1E6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5905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系统实现了从发布到治理的完整交易</a:t>
            </a:r>
            <a:r>
              <a:rPr lang="zh-CN" sz="2850" b="1">
                <a:solidFill>
                  <a:srgbClr val="0F172A"/>
                </a:solidFill>
                <a:ea typeface="宋体" panose="02010600030101010101" pitchFamily="2" charset="-122"/>
              </a:rPr>
              <a:t>流程</a:t>
            </a:r>
            <a:endParaRPr lang="zh-CN" sz="2850" b="1">
              <a:solidFill>
                <a:srgbClr val="0F172A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95400"/>
            <a:ext cx="11125200" cy="13335"/>
          </a:xfrm>
          <a:prstGeom prst="rect">
            <a:avLst/>
          </a:prstGeom>
          <a:solidFill>
            <a:srgbClr val="D8E3F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11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43560" y="1676400"/>
            <a:ext cx="1273969" cy="609600"/>
          </a:xfrm>
          <a:prstGeom prst="roundRect">
            <a:avLst>
              <a:gd name="adj" fmla="val 18750"/>
            </a:avLst>
          </a:prstGeom>
          <a:solidFill>
            <a:srgbClr val="1E6FFF">
              <a:alpha val="9412"/>
            </a:srgbClr>
          </a:solidFill>
          <a:ln w="9525">
            <a:solidFill>
              <a:srgbClr val="1E6FFF">
                <a:alpha val="4000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54050" y="1844675"/>
            <a:ext cx="112156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E6FFF"/>
                </a:solidFill>
              </a:defRPr>
            </a:pPr>
            <a:r>
              <a:rPr sz="1600" b="1">
                <a:solidFill>
                  <a:srgbClr val="1E6FFF"/>
                </a:solidFill>
              </a:rPr>
              <a:t>发布商品</a:t>
            </a:r>
            <a:endParaRPr sz="1600" b="1">
              <a:solidFill>
                <a:srgbClr val="1E6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798479" y="18288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950879" y="1676400"/>
            <a:ext cx="1273969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901825" y="1814830"/>
            <a:ext cx="1371600" cy="402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600" b="1">
                <a:solidFill>
                  <a:srgbClr val="0F172A"/>
                </a:solidFill>
              </a:rPr>
              <a:t>敏感词检测</a:t>
            </a:r>
            <a:endParaRPr sz="1600" b="1">
              <a:solidFill>
                <a:srgbClr val="0F172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205798" y="18288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358198" y="1676400"/>
            <a:ext cx="1273969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369945" y="1816100"/>
            <a:ext cx="1267460" cy="3581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600" b="1">
                <a:solidFill>
                  <a:srgbClr val="0F172A"/>
                </a:solidFill>
              </a:rPr>
              <a:t>管理员审核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613116" y="18288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765516" y="1676400"/>
            <a:ext cx="1273969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804410" y="1823085"/>
            <a:ext cx="1244600" cy="2781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lvl="0" algn="ctr">
              <a:buClrTx/>
              <a:buSzTx/>
              <a:buFontTx/>
              <a:defRPr sz="1200" b="1">
                <a:solidFill>
                  <a:srgbClr val="0F172A"/>
                </a:solidFill>
              </a:defRPr>
            </a:pPr>
            <a:r>
              <a:rPr sz="1600">
                <a:sym typeface="+mn-ea"/>
              </a:rPr>
              <a:t>市场展</a:t>
            </a:r>
            <a:r>
              <a:rPr sz="1600">
                <a:sym typeface="+mn-ea"/>
              </a:rPr>
              <a:t>示</a:t>
            </a:r>
            <a:endParaRPr sz="1600">
              <a:sym typeface="+mn-ea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020435" y="18288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172835" y="1676400"/>
            <a:ext cx="1273969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250305" y="1816100"/>
            <a:ext cx="1121410" cy="2806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600" b="1">
                <a:solidFill>
                  <a:srgbClr val="0F172A"/>
                </a:solidFill>
              </a:rPr>
              <a:t>沟通下单</a:t>
            </a:r>
            <a:endParaRPr sz="1600" b="1">
              <a:solidFill>
                <a:srgbClr val="0F172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427754" y="18288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580154" y="1676400"/>
            <a:ext cx="1273969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7656989" y="1814830"/>
            <a:ext cx="112156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600" b="1">
                <a:solidFill>
                  <a:srgbClr val="0F172A"/>
                </a:solidFill>
              </a:rPr>
              <a:t>支付发货</a:t>
            </a:r>
            <a:endParaRPr sz="1600" b="1">
              <a:solidFill>
                <a:srgbClr val="0F172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8835073" y="18288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987473" y="1676400"/>
            <a:ext cx="1273969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9096693" y="1828165"/>
            <a:ext cx="112156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ClrTx/>
              <a:buSzTx/>
              <a:buFontTx/>
              <a:defRPr sz="1200" b="1">
                <a:solidFill>
                  <a:srgbClr val="0F172A"/>
                </a:solidFill>
              </a:defRPr>
            </a:pPr>
            <a:r>
              <a:rPr sz="1600" b="1">
                <a:solidFill>
                  <a:srgbClr val="0F172A"/>
                </a:solidFill>
              </a:rPr>
              <a:t>收货完成</a:t>
            </a:r>
            <a:endParaRPr sz="1600" b="1">
              <a:solidFill>
                <a:srgbClr val="0F172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10242391" y="18288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10384631" y="1676400"/>
            <a:ext cx="1273969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10488136" y="1826260"/>
            <a:ext cx="112156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sz="1600" b="1">
                <a:solidFill>
                  <a:srgbClr val="0F172A"/>
                </a:solidFill>
              </a:rPr>
              <a:t>举报处理</a:t>
            </a:r>
            <a:endParaRPr sz="1600" b="1">
              <a:solidFill>
                <a:srgbClr val="0F172A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533400" y="278130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2522" y="2857500"/>
            <a:ext cx="1803006" cy="1371600"/>
          </a:xfrm>
          <a:prstGeom prst="roundRect">
            <a:avLst>
              <a:gd name="adj" fmla="val 5556"/>
            </a:avLst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3209925" y="278130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86125" y="2974975"/>
            <a:ext cx="2228850" cy="1186815"/>
          </a:xfrm>
          <a:prstGeom prst="roundRect">
            <a:avLst>
              <a:gd name="adj" fmla="val 5556"/>
            </a:avLst>
          </a:prstGeom>
        </p:spPr>
      </p:pic>
      <p:sp>
        <p:nvSpPr>
          <p:cNvPr id="32" name="圆角矩形 31"/>
          <p:cNvSpPr>
            <a:spLocks noGrp="1"/>
          </p:cNvSpPr>
          <p:nvPr/>
        </p:nvSpPr>
        <p:spPr>
          <a:xfrm>
            <a:off x="5886450" y="278130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886450" y="2896235"/>
            <a:ext cx="2228850" cy="1256665"/>
          </a:xfrm>
          <a:prstGeom prst="roundRect">
            <a:avLst>
              <a:gd name="adj" fmla="val 5556"/>
            </a:avLst>
          </a:prstGeom>
        </p:spPr>
      </p:pic>
      <p:sp>
        <p:nvSpPr>
          <p:cNvPr id="34" name="圆角矩形 33"/>
          <p:cNvSpPr>
            <a:spLocks noGrp="1"/>
          </p:cNvSpPr>
          <p:nvPr/>
        </p:nvSpPr>
        <p:spPr>
          <a:xfrm>
            <a:off x="8562975" y="278130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62975" y="2865755"/>
            <a:ext cx="2228850" cy="1235075"/>
          </a:xfrm>
          <a:prstGeom prst="roundRect">
            <a:avLst>
              <a:gd name="adj" fmla="val 5556"/>
            </a:avLst>
          </a:prstGeom>
        </p:spPr>
      </p:pic>
      <p:sp>
        <p:nvSpPr>
          <p:cNvPr id="36" name="圆角矩形 35"/>
          <p:cNvSpPr>
            <a:spLocks noGrp="1"/>
          </p:cNvSpPr>
          <p:nvPr/>
        </p:nvSpPr>
        <p:spPr>
          <a:xfrm>
            <a:off x="479425" y="4763135"/>
            <a:ext cx="10382250" cy="723900"/>
          </a:xfrm>
          <a:prstGeom prst="roundRect">
            <a:avLst>
              <a:gd name="adj" fmla="val 15789"/>
            </a:avLst>
          </a:prstGeom>
          <a:solidFill>
            <a:srgbClr val="F4F8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39470" y="4869180"/>
            <a:ext cx="9451340" cy="4870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F172A"/>
                </a:solidFill>
              </a:defRPr>
            </a:pPr>
            <a:r>
              <a:rPr lang="zh-CN" sz="2800" b="0">
                <a:solidFill>
                  <a:srgbClr val="0F172A"/>
                </a:solidFill>
              </a:rPr>
              <a:t>整体流程验证</a:t>
            </a:r>
            <a:r>
              <a:rPr sz="2800" b="0">
                <a:solidFill>
                  <a:srgbClr val="0F172A"/>
                </a:solidFill>
              </a:rPr>
              <a:t>系统具备发布、审核、交易、通知和治理能力</a:t>
            </a:r>
            <a:endParaRPr sz="2800" b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2857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6FFF"/>
                </a:solidFill>
              </a:defRPr>
            </a:pPr>
            <a:r>
              <a:rPr sz="1125" b="1">
                <a:solidFill>
                  <a:srgbClr val="1E6FFF"/>
                </a:solidFill>
              </a:rPr>
              <a:t>第二章  重要设计和实现</a:t>
            </a:r>
            <a:endParaRPr sz="1125" b="1">
              <a:solidFill>
                <a:srgbClr val="1E6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5905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后台治理保证平台内容可控、交易可追踪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95400"/>
            <a:ext cx="11125200" cy="13335"/>
          </a:xfrm>
          <a:prstGeom prst="rect">
            <a:avLst/>
          </a:prstGeom>
          <a:solidFill>
            <a:srgbClr val="D8E3F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12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1714500"/>
            <a:ext cx="34290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90" y="1295400"/>
            <a:ext cx="3853180" cy="2307590"/>
          </a:xfrm>
          <a:prstGeom prst="roundRect">
            <a:avLst>
              <a:gd name="adj" fmla="val 4734"/>
            </a:avLst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020" y="1461135"/>
            <a:ext cx="4031615" cy="1996440"/>
          </a:xfrm>
          <a:prstGeom prst="roundRect">
            <a:avLst>
              <a:gd name="adj" fmla="val 4734"/>
            </a:avLst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415" y="1404620"/>
            <a:ext cx="3398520" cy="2004060"/>
          </a:xfrm>
          <a:prstGeom prst="roundRect">
            <a:avLst>
              <a:gd name="adj" fmla="val 4734"/>
            </a:avLst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25" y="3731895"/>
            <a:ext cx="4041140" cy="2447925"/>
          </a:xfrm>
          <a:prstGeom prst="roundRect">
            <a:avLst>
              <a:gd name="adj" fmla="val 6202"/>
            </a:avLst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00" y="3609975"/>
            <a:ext cx="3397250" cy="2376170"/>
          </a:xfrm>
          <a:prstGeom prst="roundRect">
            <a:avLst>
              <a:gd name="adj" fmla="val 6202"/>
            </a:avLst>
          </a:prstGeom>
        </p:spPr>
      </p:pic>
      <p:sp>
        <p:nvSpPr>
          <p:cNvPr id="16" name="椭圆 15"/>
          <p:cNvSpPr>
            <a:spLocks noGrp="1"/>
          </p:cNvSpPr>
          <p:nvPr/>
        </p:nvSpPr>
        <p:spPr>
          <a:xfrm>
            <a:off x="7981950" y="4171950"/>
            <a:ext cx="85725" cy="85725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183880" y="3951605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商品审核：待审核商品通过后才公开展示</a:t>
            </a:r>
            <a:endParaRPr sz="1800" b="0">
              <a:solidFill>
                <a:srgbClr val="0F172A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7981950" y="4763135"/>
            <a:ext cx="85725" cy="85725"/>
          </a:xfrm>
          <a:prstGeom prst="ellipse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328025" y="4509135"/>
            <a:ext cx="2247900" cy="33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1275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用户管理：异常账号可禁用或恢复</a:t>
            </a:r>
            <a:endParaRPr sz="1800" b="0">
              <a:solidFill>
                <a:srgbClr val="0F172A"/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7981950" y="5233670"/>
            <a:ext cx="85725" cy="85725"/>
          </a:xfrm>
          <a:prstGeom prst="ellipse">
            <a:avLst/>
          </a:prstGeom>
          <a:solidFill>
            <a:srgbClr val="EF4444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256270" y="5102225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举报处理：交易纠纷和违规商品进入后台</a:t>
            </a:r>
            <a:endParaRPr sz="1800" b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2857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6FFF"/>
                </a:solidFill>
              </a:defRPr>
            </a:pPr>
            <a:r>
              <a:rPr sz="1125" b="1">
                <a:solidFill>
                  <a:srgbClr val="1E6FFF"/>
                </a:solidFill>
              </a:rPr>
              <a:t>第二章  重要设计和实现</a:t>
            </a:r>
            <a:endParaRPr sz="1125" b="1">
              <a:solidFill>
                <a:srgbClr val="1E6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5905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测试结果说明核心流程可以稳定运行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95400"/>
            <a:ext cx="11125200" cy="13335"/>
          </a:xfrm>
          <a:prstGeom prst="rect">
            <a:avLst/>
          </a:prstGeom>
          <a:solidFill>
            <a:srgbClr val="D8E3F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13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1790700"/>
            <a:ext cx="2428875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1933575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E6FFF"/>
                </a:solidFill>
              </a:defRPr>
            </a:pPr>
            <a:r>
              <a:rPr sz="2250" b="1">
                <a:solidFill>
                  <a:srgbClr val="1E6FFF"/>
                </a:solidFill>
              </a:rPr>
              <a:t>24</a:t>
            </a:r>
            <a:endParaRPr sz="2250" b="1">
              <a:solidFill>
                <a:srgbClr val="1E6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3570" y="2257425"/>
            <a:ext cx="26581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600" b="0">
                <a:solidFill>
                  <a:srgbClr val="64748B"/>
                </a:solidFill>
              </a:rPr>
              <a:t>后端 MockMvc 集成测试</a:t>
            </a:r>
            <a:endParaRPr sz="1600" b="0">
              <a:solidFill>
                <a:srgbClr val="64748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248025" y="1790700"/>
            <a:ext cx="2428875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38525" y="1933575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A34A"/>
                </a:solidFill>
              </a:defRPr>
            </a:pPr>
            <a:r>
              <a:rPr sz="2250" b="1">
                <a:solidFill>
                  <a:srgbClr val="16A34A"/>
                </a:solidFill>
              </a:rPr>
              <a:t>16</a:t>
            </a:r>
            <a:endParaRPr sz="2250" b="1">
              <a:solidFill>
                <a:srgbClr val="16A34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38525" y="2314575"/>
            <a:ext cx="2047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1200" b="0">
                <a:solidFill>
                  <a:srgbClr val="64748B"/>
                </a:solidFill>
              </a:defRPr>
            </a:pPr>
            <a:r>
              <a:rPr sz="1600" b="0">
                <a:solidFill>
                  <a:srgbClr val="64748B"/>
                </a:solidFill>
              </a:rPr>
              <a:t>前端 Vitest 测试文件</a:t>
            </a:r>
            <a:endParaRPr sz="1600" b="0">
              <a:solidFill>
                <a:srgbClr val="64748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962650" y="1790700"/>
            <a:ext cx="2428875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53150" y="1933575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97316"/>
                </a:solidFill>
              </a:defRPr>
            </a:pPr>
            <a:r>
              <a:rPr sz="2250" b="1">
                <a:solidFill>
                  <a:srgbClr val="F97316"/>
                </a:solidFill>
              </a:rPr>
              <a:t>10</a:t>
            </a:r>
            <a:endParaRPr sz="2250" b="1">
              <a:solidFill>
                <a:srgbClr val="F9731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53150" y="2314575"/>
            <a:ext cx="2047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600" b="0">
                <a:solidFill>
                  <a:srgbClr val="64748B"/>
                </a:solidFill>
              </a:rPr>
              <a:t>黑盒关键业务流程</a:t>
            </a:r>
            <a:endParaRPr sz="1600" b="0">
              <a:solidFill>
                <a:srgbClr val="64748B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677275" y="1790700"/>
            <a:ext cx="2428875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867775" y="1933575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4EC4"/>
                </a:solidFill>
              </a:defRPr>
            </a:pPr>
            <a:r>
              <a:rPr sz="2250" b="1">
                <a:solidFill>
                  <a:srgbClr val="0F4EC4"/>
                </a:solidFill>
              </a:rPr>
              <a:t>Build</a:t>
            </a:r>
            <a:endParaRPr sz="2250" b="1">
              <a:solidFill>
                <a:srgbClr val="0F4EC4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867775" y="2314575"/>
            <a:ext cx="2047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rPr sz="1600" b="0">
                <a:solidFill>
                  <a:srgbClr val="64748B"/>
                </a:solidFill>
              </a:rPr>
              <a:t>前端生产构建通过</a:t>
            </a:r>
            <a:endParaRPr sz="1600" b="0">
              <a:solidFill>
                <a:srgbClr val="64748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33400" y="32861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重点验证场景</a:t>
            </a:r>
            <a:endParaRPr sz="2100" b="1">
              <a:solidFill>
                <a:srgbClr val="0F172A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33400" y="3905250"/>
            <a:ext cx="3048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42950" y="4114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E6FFF"/>
                </a:solidFill>
              </a:defRPr>
            </a:pPr>
            <a:r>
              <a:rPr sz="1800" b="1">
                <a:solidFill>
                  <a:srgbClr val="1E6FFF"/>
                </a:solidFill>
              </a:rPr>
              <a:t>搜索分页</a:t>
            </a:r>
            <a:endParaRPr sz="1800" b="1">
              <a:solidFill>
                <a:srgbClr val="1E6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2950" y="45148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600" b="0">
                <a:solidFill>
                  <a:srgbClr val="64748B"/>
                </a:solidFill>
              </a:rPr>
              <a:t>100 条商品数据下，分页与筛选响应正常</a:t>
            </a:r>
            <a:endParaRPr sz="1600" b="0">
              <a:solidFill>
                <a:srgbClr val="64748B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057650" y="3905250"/>
            <a:ext cx="3048000" cy="11430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267200" y="4114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rPr sz="1800" b="1">
                <a:solidFill>
                  <a:srgbClr val="F97316"/>
                </a:solidFill>
              </a:rPr>
              <a:t>并发下单</a:t>
            </a:r>
            <a:endParaRPr sz="1800" b="1">
              <a:solidFill>
                <a:srgbClr val="F97316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267200" y="45148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1350" b="0">
                <a:solidFill>
                  <a:srgbClr val="64748B"/>
                </a:solidFill>
              </a:defRPr>
            </a:pPr>
            <a:r>
              <a:rPr sz="1600" b="0">
                <a:solidFill>
                  <a:srgbClr val="64748B"/>
                </a:solidFill>
              </a:rPr>
              <a:t>通过乐观锁避免同一商品被重复购买</a:t>
            </a:r>
            <a:endParaRPr sz="1600" b="0">
              <a:solidFill>
                <a:srgbClr val="64748B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581900" y="3905250"/>
            <a:ext cx="3048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791450" y="4114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E6FFF"/>
                </a:solidFill>
              </a:defRPr>
            </a:pPr>
            <a:r>
              <a:rPr sz="1800" b="1">
                <a:solidFill>
                  <a:srgbClr val="1E6FFF"/>
                </a:solidFill>
              </a:rPr>
              <a:t>Redis 降级</a:t>
            </a:r>
            <a:endParaRPr sz="1800" b="1">
              <a:solidFill>
                <a:srgbClr val="1E6FF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791450" y="45148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1350" b="0">
                <a:solidFill>
                  <a:srgbClr val="64748B"/>
                </a:solidFill>
              </a:defRPr>
            </a:pPr>
            <a:r>
              <a:rPr sz="1600" b="0">
                <a:solidFill>
                  <a:srgbClr val="64748B"/>
                </a:solidFill>
              </a:rPr>
              <a:t>缓存不可用时，核心业务仍能回退到数据库</a:t>
            </a:r>
            <a:endParaRPr sz="1600" b="0">
              <a:solidFill>
                <a:srgbClr val="64748B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38835" y="5733415"/>
            <a:ext cx="9734550" cy="6203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E6FFF"/>
                </a:solidFill>
              </a:defRPr>
            </a:pPr>
            <a:r>
              <a:rPr sz="2400" b="1">
                <a:solidFill>
                  <a:srgbClr val="1E6FFF"/>
                </a:solidFill>
              </a:rPr>
              <a:t>结论：功能完整、业务流程正确、安全控制和并发处理达到</a:t>
            </a:r>
            <a:r>
              <a:rPr lang="zh-CN" sz="2400" b="1">
                <a:solidFill>
                  <a:srgbClr val="1E6FFF"/>
                </a:solidFill>
                <a:ea typeface="宋体" panose="02010600030101010101" pitchFamily="2" charset="-122"/>
              </a:rPr>
              <a:t>基本</a:t>
            </a:r>
            <a:r>
              <a:rPr sz="2400" b="1">
                <a:solidFill>
                  <a:srgbClr val="1E6FFF"/>
                </a:solidFill>
              </a:rPr>
              <a:t>要求。</a:t>
            </a:r>
            <a:endParaRPr sz="2400" b="1">
              <a:solidFill>
                <a:srgbClr val="1E6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2857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6FFF"/>
                </a:solidFill>
              </a:defRPr>
            </a:pPr>
            <a:r>
              <a:rPr sz="1125" b="1">
                <a:solidFill>
                  <a:srgbClr val="1E6FFF"/>
                </a:solidFill>
              </a:rPr>
              <a:t>第三章  成员分工</a:t>
            </a:r>
            <a:endParaRPr sz="1125" b="1">
              <a:solidFill>
                <a:srgbClr val="1E6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5905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四名成员围绕架构、业务、前端和文档协同完成项目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95400"/>
            <a:ext cx="11125200" cy="13335"/>
          </a:xfrm>
          <a:prstGeom prst="rect">
            <a:avLst/>
          </a:prstGeom>
          <a:solidFill>
            <a:srgbClr val="D8E3F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258550" y="61912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14</a:t>
            </a:r>
            <a:endParaRPr sz="1050" b="0">
              <a:solidFill>
                <a:srgbClr val="64748B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3400" y="1714500"/>
            <a:ext cx="10287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42950" y="1857375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E6FFF"/>
                </a:solidFill>
              </a:defRPr>
            </a:pPr>
            <a:r>
              <a:rPr sz="1575" b="1">
                <a:solidFill>
                  <a:srgbClr val="1E6FFF"/>
                </a:solidFill>
              </a:rPr>
              <a:t>刘荣沁</a:t>
            </a:r>
            <a:endParaRPr sz="1575" b="1">
              <a:solidFill>
                <a:srgbClr val="1E6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962150" y="1866900"/>
            <a:ext cx="800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项目规划、后端架构、订单模块、部署配置</a:t>
            </a:r>
            <a:endParaRPr sz="1350" b="0">
              <a:solidFill>
                <a:srgbClr val="0F172A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44830" y="3213100"/>
            <a:ext cx="10287000" cy="552450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54380" y="3355975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E6FFF"/>
                </a:solidFill>
              </a:defRPr>
            </a:pPr>
            <a:r>
              <a:rPr sz="1575" b="1">
                <a:solidFill>
                  <a:srgbClr val="1E6FFF"/>
                </a:solidFill>
              </a:rPr>
              <a:t>明冬阳</a:t>
            </a:r>
            <a:endParaRPr sz="1575" b="1">
              <a:solidFill>
                <a:srgbClr val="1E6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973580" y="3365500"/>
            <a:ext cx="800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用户认证、JWT、Redis、商品后端、</a:t>
            </a:r>
            <a:r>
              <a:rPr lang="zh-CN" sz="1350" b="0">
                <a:solidFill>
                  <a:srgbClr val="0F172A"/>
                </a:solidFill>
                <a:ea typeface="宋体" panose="02010600030101010101" pitchFamily="2" charset="-122"/>
              </a:rPr>
              <a:t>数据库设计、</a:t>
            </a:r>
            <a:r>
              <a:rPr sz="1350" b="0">
                <a:solidFill>
                  <a:srgbClr val="0F172A"/>
                </a:solidFill>
              </a:rPr>
              <a:t>后端测试</a:t>
            </a:r>
            <a:endParaRPr sz="1350" b="0">
              <a:solidFill>
                <a:srgbClr val="0F172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33400" y="3945890"/>
            <a:ext cx="10287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42950" y="4088765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E6FFF"/>
                </a:solidFill>
              </a:defRPr>
            </a:pPr>
            <a:r>
              <a:rPr sz="1575" b="1">
                <a:solidFill>
                  <a:srgbClr val="1E6FFF"/>
                </a:solidFill>
              </a:rPr>
              <a:t>朱大前</a:t>
            </a:r>
            <a:endParaRPr sz="1575" b="1">
              <a:solidFill>
                <a:srgbClr val="1E6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962150" y="4098290"/>
            <a:ext cx="800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前端架构、首页/市场/详情页、后台管理、消息通知、推荐与举报扩展</a:t>
            </a:r>
            <a:endParaRPr sz="1350" b="0">
              <a:solidFill>
                <a:srgbClr val="0F172A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33400" y="2438400"/>
            <a:ext cx="10287000" cy="552450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9525">
            <a:solidFill>
              <a:srgbClr val="D8E3F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42950" y="2581275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E6FFF"/>
                </a:solidFill>
              </a:defRPr>
            </a:pPr>
            <a:r>
              <a:rPr sz="1575" b="1">
                <a:solidFill>
                  <a:srgbClr val="1E6FFF"/>
                </a:solidFill>
              </a:rPr>
              <a:t>邓先毅</a:t>
            </a:r>
            <a:endParaRPr sz="1575" b="1">
              <a:solidFill>
                <a:srgbClr val="1E6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962150" y="2590800"/>
            <a:ext cx="800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个人中心、订单中心、消息中心、购物车、支付页、UI/UX、前端测试、文档</a:t>
            </a:r>
            <a:endParaRPr sz="1350" b="0">
              <a:solidFill>
                <a:srgbClr val="0F172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533400" y="5000625"/>
            <a:ext cx="10287000" cy="742950"/>
          </a:xfrm>
          <a:prstGeom prst="roundRect">
            <a:avLst>
              <a:gd name="adj" fmla="val 15385"/>
            </a:avLst>
          </a:prstGeom>
          <a:solidFill>
            <a:srgbClr val="F4F8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52006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E6FFF"/>
                </a:solidFill>
              </a:defRPr>
            </a:pPr>
            <a:r>
              <a:rPr sz="1800" b="1">
                <a:solidFill>
                  <a:srgbClr val="1E6FFF"/>
                </a:solidFill>
              </a:rPr>
              <a:t>总结</a:t>
            </a:r>
            <a:endParaRPr sz="1800" b="1">
              <a:solidFill>
                <a:srgbClr val="1E6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81150" y="5092065"/>
            <a:ext cx="8477250" cy="6515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系统完成了校园二手交易从需求分析、功能实现、后台治理到测试验证的完整实践，后续可继续优化</a:t>
            </a:r>
            <a:r>
              <a:rPr lang="zh-CN" sz="1425" b="1">
                <a:solidFill>
                  <a:srgbClr val="0F172A"/>
                </a:solidFill>
              </a:rPr>
              <a:t>高并发</a:t>
            </a:r>
            <a:r>
              <a:rPr sz="1425" b="1">
                <a:solidFill>
                  <a:srgbClr val="0F172A"/>
                </a:solidFill>
              </a:rPr>
              <a:t>、实时聊天和移动端适配。</a:t>
            </a:r>
            <a:endParaRPr sz="1425" b="1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541000" y="-635000"/>
            <a:ext cx="2032000" cy="2032000"/>
          </a:xfrm>
          <a:prstGeom prst="ellipse">
            <a:avLst/>
          </a:prstGeom>
          <a:solidFill>
            <a:srgbClr val="2385BB">
              <a:alpha val="10000"/>
            </a:srgbClr>
          </a:solidFill>
          <a:ln cap="flat" cmpd="sng">
            <a:solidFill>
              <a:srgbClr val="0E6DA2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-508000" y="5461000"/>
            <a:ext cx="1778000" cy="1778000"/>
          </a:xfrm>
          <a:prstGeom prst="roundRect">
            <a:avLst>
              <a:gd name="adj" fmla="val 0"/>
            </a:avLst>
          </a:prstGeom>
          <a:solidFill>
            <a:srgbClr val="2385BB">
              <a:alpha val="10000"/>
            </a:srgbClr>
          </a:solidFill>
          <a:ln cap="flat" cmpd="sng">
            <a:solidFill>
              <a:srgbClr val="0E6DA2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385B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感谢老师批评指正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7188">
            <a:off x="4826016" y="39941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385B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4381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汇报完毕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651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64748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LISTENING &amp; SUGGESTIONS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2.5,&quot;left&quot;:46.1,&quot;top&quot;:194.5,&quot;width&quot;:840}"/>
</p:tagLst>
</file>

<file path=ppt/tags/tag2.xml><?xml version="1.0" encoding="utf-8"?>
<p:tagLst xmlns:p="http://schemas.openxmlformats.org/presentationml/2006/main">
  <p:tag name="KSO_WM_DIAGRAM_VIRTUALLY_FRAME" val="{&quot;height&quot;:202.5,&quot;left&quot;:46.1,&quot;top&quot;:194.5,&quot;width&quot;:840}"/>
</p:tagLst>
</file>

<file path=ppt/tags/tag3.xml><?xml version="1.0" encoding="utf-8"?>
<p:tagLst xmlns:p="http://schemas.openxmlformats.org/presentationml/2006/main">
  <p:tag name="KSO_WM_DIAGRAM_VIRTUALLY_FRAME" val="{&quot;height&quot;:202.5,&quot;left&quot;:46.1,&quot;top&quot;:194.5,&quot;width&quot;:840}"/>
</p:tagLst>
</file>

<file path=ppt/tags/tag4.xml><?xml version="1.0" encoding="utf-8"?>
<p:tagLst xmlns:p="http://schemas.openxmlformats.org/presentationml/2006/main">
  <p:tag name="KSO_WM_DIAGRAM_VIRTUALLY_FRAME" val="{&quot;height&quot;:202.5,&quot;left&quot;:46.1,&quot;top&quot;:194.5,&quot;width&quot;:840}"/>
</p:tagLst>
</file>

<file path=ppt/tags/tag5.xml><?xml version="1.0" encoding="utf-8"?>
<p:tagLst xmlns:p="http://schemas.openxmlformats.org/presentationml/2006/main">
  <p:tag name="KSO_WM_DIAGRAM_VIRTUALLY_FRAME" val="{&quot;height&quot;:202.5,&quot;left&quot;:46.1,&quot;top&quot;:194.5,&quot;width&quot;:840}"/>
</p:tagLst>
</file>

<file path=ppt/tags/tag6.xml><?xml version="1.0" encoding="utf-8"?>
<p:tagLst xmlns:p="http://schemas.openxmlformats.org/presentationml/2006/main">
  <p:tag name="KSO_WM_DIAGRAM_VIRTUALLY_FRAME" val="{&quot;height&quot;:202.5,&quot;left&quot;:46.1,&quot;top&quot;:194.5,&quot;width&quot;:840}"/>
</p:tagLst>
</file>

<file path=ppt/tags/tag7.xml><?xml version="1.0" encoding="utf-8"?>
<p:tagLst xmlns:p="http://schemas.openxmlformats.org/presentationml/2006/main">
  <p:tag name="KSO_WM_DIAGRAM_VIRTUALLY_FRAME" val="{&quot;height&quot;:202.5,&quot;left&quot;:46.1,&quot;top&quot;:194.5,&quot;width&quot;:840}"/>
</p:tagLst>
</file>

<file path=ppt/tags/tag8.xml><?xml version="1.0" encoding="utf-8"?>
<p:tagLst xmlns:p="http://schemas.openxmlformats.org/presentationml/2006/main">
  <p:tag name="KSO_WM_DIAGRAM_VIRTUALLY_FRAME" val="{&quot;height&quot;:202.5,&quot;left&quot;:46.1,&quot;top&quot;:194.5,&quot;width&quot;:840}"/>
</p:tagLst>
</file>

<file path=ppt/tags/tag9.xml><?xml version="1.0" encoding="utf-8"?>
<p:tagLst xmlns:p="http://schemas.openxmlformats.org/presentationml/2006/main">
  <p:tag name="KSO_WM_DIAGRAM_VIRTUALLY_FRAME" val="{&quot;height&quot;:202.5,&quot;left&quot;:46.1,&quot;top&quot;:194.5,&quot;width&quot;:840}"/>
</p:tagLst>
</file>

<file path=ppt/tags/tag10.xml><?xml version="1.0" encoding="utf-8"?>
<p:tagLst xmlns:p="http://schemas.openxmlformats.org/presentationml/2006/main">
  <p:tag name="KSO_WM_DIAGRAM_VIRTUALLY_FRAME" val="{&quot;height&quot;:202.5,&quot;left&quot;:46.1,&quot;top&quot;:194.5,&quot;width&quot;:840}"/>
</p:tagLst>
</file>

<file path=ppt/tags/tag11.xml><?xml version="1.0" encoding="utf-8"?>
<p:tagLst xmlns:p="http://schemas.openxmlformats.org/presentationml/2006/main">
  <p:tag name="KSO_WM_DIAGRAM_VIRTUALLY_FRAME" val="{&quot;height&quot;:202.5,&quot;left&quot;:46.1,&quot;top&quot;:194.5,&quot;width&quot;:840}"/>
</p:tagLst>
</file>

<file path=ppt/tags/tag12.xml><?xml version="1.0" encoding="utf-8"?>
<p:tagLst xmlns:p="http://schemas.openxmlformats.org/presentationml/2006/main">
  <p:tag name="KSO_WM_DIAGRAM_VIRTUALLY_FRAME" val="{&quot;height&quot;:202.5,&quot;left&quot;:46.1,&quot;top&quot;:194.5,&quot;width&quot;:840}"/>
</p:tagLst>
</file>

<file path=ppt/tags/tag13.xml><?xml version="1.0" encoding="utf-8"?>
<p:tagLst xmlns:p="http://schemas.openxmlformats.org/presentationml/2006/main">
  <p:tag name="KSO_WM_DIAGRAM_VIRTUALLY_FRAME" val="{&quot;height&quot;:312,&quot;left&quot;:645,&quot;top&quot;:141,&quot;width&quot;:225}"/>
</p:tagLst>
</file>

<file path=ppt/tags/tag14.xml><?xml version="1.0" encoding="utf-8"?>
<p:tagLst xmlns:p="http://schemas.openxmlformats.org/presentationml/2006/main">
  <p:tag name="KSO_WM_DIAGRAM_VIRTUALLY_FRAME" val="{&quot;height&quot;:312,&quot;left&quot;:645,&quot;top&quot;:141,&quot;width&quot;:225}"/>
</p:tagLst>
</file>

<file path=ppt/tags/tag15.xml><?xml version="1.0" encoding="utf-8"?>
<p:tagLst xmlns:p="http://schemas.openxmlformats.org/presentationml/2006/main">
  <p:tag name="KSO_WM_DIAGRAM_VIRTUALLY_FRAME" val="{&quot;height&quot;:312,&quot;left&quot;:645,&quot;top&quot;:141,&quot;width&quot;:225}"/>
</p:tagLst>
</file>

<file path=ppt/tags/tag16.xml><?xml version="1.0" encoding="utf-8"?>
<p:tagLst xmlns:p="http://schemas.openxmlformats.org/presentationml/2006/main">
  <p:tag name="KSO_WM_DIAGRAM_VIRTUALLY_FRAME" val="{&quot;height&quot;:312,&quot;left&quot;:645,&quot;top&quot;:141,&quot;width&quot;:225}"/>
</p:tagLst>
</file>

<file path=ppt/tags/tag17.xml><?xml version="1.0" encoding="utf-8"?>
<p:tagLst xmlns:p="http://schemas.openxmlformats.org/presentationml/2006/main">
  <p:tag name="KSO_WM_DIAGRAM_VIRTUALLY_FRAME" val="{&quot;height&quot;:312,&quot;left&quot;:645,&quot;top&quot;:141,&quot;width&quot;:225}"/>
</p:tagLst>
</file>

<file path=ppt/tags/tag18.xml><?xml version="1.0" encoding="utf-8"?>
<p:tagLst xmlns:p="http://schemas.openxmlformats.org/presentationml/2006/main">
  <p:tag name="KSO_WM_DIAGRAM_VIRTUALLY_FRAME" val="{&quot;height&quot;:312,&quot;left&quot;:645,&quot;top&quot;:141,&quot;width&quot;:225}"/>
</p:tagLst>
</file>

<file path=ppt/tags/tag19.xml><?xml version="1.0" encoding="utf-8"?>
<p:tagLst xmlns:p="http://schemas.openxmlformats.org/presentationml/2006/main">
  <p:tag name="KSO_WM_DIAGRAM_VIRTUALLY_FRAME" val="{&quot;height&quot;:312,&quot;left&quot;:645,&quot;top&quot;:141,&quot;width&quot;:225}"/>
</p:tagLst>
</file>

<file path=ppt/tags/tag20.xml><?xml version="1.0" encoding="utf-8"?>
<p:tagLst xmlns:p="http://schemas.openxmlformats.org/presentationml/2006/main">
  <p:tag name="KSO_WM_DIAGRAM_VIRTUALLY_FRAME" val="{&quot;height&quot;:312,&quot;left&quot;:645,&quot;top&quot;:141,&quot;width&quot;:225}"/>
</p:tagLst>
</file>

<file path=ppt/tags/tag21.xml><?xml version="1.0" encoding="utf-8"?>
<p:tagLst xmlns:p="http://schemas.openxmlformats.org/presentationml/2006/main">
  <p:tag name="KSO_WM_DIAGRAM_VIRTUALLY_FRAME" val="{&quot;height&quot;:312,&quot;left&quot;:645,&quot;top&quot;:141,&quot;width&quot;:225}"/>
</p:tagLst>
</file>

<file path=ppt/tags/tag22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23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24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25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26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27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28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29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30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31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32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33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34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35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36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37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38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39.xml><?xml version="1.0" encoding="utf-8"?>
<p:tagLst xmlns:p="http://schemas.openxmlformats.org/presentationml/2006/main">
  <p:tag name="KSO_WM_DIAGRAM_VIRTUALLY_FRAME" val="{&quot;height&quot;:226.9,&quot;left&quot;:42,&quot;top&quot;:256.5,&quot;width&quot;:576.9500000000002}"/>
</p:tagLst>
</file>

<file path=ppt/tags/tag40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41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42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43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44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45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46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47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48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49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50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51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52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53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54.xml><?xml version="1.0" encoding="utf-8"?>
<p:tagLst xmlns:p="http://schemas.openxmlformats.org/presentationml/2006/main">
  <p:tag name="KSO_WM_DIAGRAM_VIRTUALLY_FRAME" val="{&quot;height&quot;:330.8,&quot;left&quot;:42,&quot;top&quot;:133.5,&quot;width&quot;:476.85}"/>
</p:tagLst>
</file>

<file path=ppt/tags/tag55.xml><?xml version="1.0" encoding="utf-8"?>
<p:tagLst xmlns:p="http://schemas.openxmlformats.org/presentationml/2006/main">
  <p:tag name="KSO_WM_DIAGRAM_VIRTUALLY_FRAME" val="{&quot;height&quot;:299.2,&quot;left&quot;:495,&quot;top&quot;:142.5,&quot;width&quot;:422.95}"/>
</p:tagLst>
</file>

<file path=ppt/tags/tag56.xml><?xml version="1.0" encoding="utf-8"?>
<p:tagLst xmlns:p="http://schemas.openxmlformats.org/presentationml/2006/main">
  <p:tag name="KSO_WM_DIAGRAM_VIRTUALLY_FRAME" val="{&quot;height&quot;:299.2,&quot;left&quot;:495,&quot;top&quot;:142.5,&quot;width&quot;:422.95}"/>
</p:tagLst>
</file>

<file path=ppt/tags/tag57.xml><?xml version="1.0" encoding="utf-8"?>
<p:tagLst xmlns:p="http://schemas.openxmlformats.org/presentationml/2006/main">
  <p:tag name="KSO_WM_DIAGRAM_VIRTUALLY_FRAME" val="{&quot;height&quot;:299.2,&quot;left&quot;:495,&quot;top&quot;:142.5,&quot;width&quot;:422.95}"/>
</p:tagLst>
</file>

<file path=ppt/tags/tag58.xml><?xml version="1.0" encoding="utf-8"?>
<p:tagLst xmlns:p="http://schemas.openxmlformats.org/presentationml/2006/main">
  <p:tag name="KSO_WM_DIAGRAM_VIRTUALLY_FRAME" val="{&quot;height&quot;:299.2,&quot;left&quot;:495,&quot;top&quot;:142.5,&quot;width&quot;:422.95}"/>
</p:tagLst>
</file>

<file path=ppt/tags/tag59.xml><?xml version="1.0" encoding="utf-8"?>
<p:tagLst xmlns:p="http://schemas.openxmlformats.org/presentationml/2006/main">
  <p:tag name="KSO_WM_DIAGRAM_VIRTUALLY_FRAME" val="{&quot;height&quot;:299.2,&quot;left&quot;:495,&quot;top&quot;:142.5,&quot;width&quot;:422.95}"/>
</p:tagLst>
</file>

<file path=ppt/tags/tag60.xml><?xml version="1.0" encoding="utf-8"?>
<p:tagLst xmlns:p="http://schemas.openxmlformats.org/presentationml/2006/main">
  <p:tag name="KSO_WM_DIAGRAM_VIRTUALLY_FRAME" val="{&quot;height&quot;:299.2,&quot;left&quot;:495,&quot;top&quot;:142.5,&quot;width&quot;:422.95}"/>
</p:tagLst>
</file>

<file path=ppt/tags/tag61.xml><?xml version="1.0" encoding="utf-8"?>
<p:tagLst xmlns:p="http://schemas.openxmlformats.org/presentationml/2006/main">
  <p:tag name="KSO_WM_DIAGRAM_VIRTUALLY_FRAME" val="{&quot;height&quot;:299.2,&quot;left&quot;:495,&quot;top&quot;:142.5,&quot;width&quot;:422.95}"/>
</p:tagLst>
</file>

<file path=ppt/tags/tag62.xml><?xml version="1.0" encoding="utf-8"?>
<p:tagLst xmlns:p="http://schemas.openxmlformats.org/presentationml/2006/main">
  <p:tag name="KSO_WM_DIAGRAM_VIRTUALLY_FRAME" val="{&quot;height&quot;:299.2,&quot;left&quot;:495,&quot;top&quot;:142.5,&quot;width&quot;:422.95}"/>
</p:tagLst>
</file>

<file path=ppt/tags/tag63.xml><?xml version="1.0" encoding="utf-8"?>
<p:tagLst xmlns:p="http://schemas.openxmlformats.org/presentationml/2006/main">
  <p:tag name="KSO_WM_DIAGRAM_VIRTUALLY_FRAME" val="{&quot;height&quot;:299.2,&quot;left&quot;:495,&quot;top&quot;:142.5,&quot;width&quot;:422.95}"/>
</p:tagLst>
</file>

<file path=ppt/tags/tag64.xml><?xml version="1.0" encoding="utf-8"?>
<p:tagLst xmlns:p="http://schemas.openxmlformats.org/presentationml/2006/main">
  <p:tag name="KSO_WM_DIAGRAM_VIRTUALLY_FRAME" val="{&quot;height&quot;:299.2,&quot;left&quot;:495,&quot;top&quot;:142.5,&quot;width&quot;:422.95}"/>
</p:tagLst>
</file>

<file path=ppt/tags/tag65.xml><?xml version="1.0" encoding="utf-8"?>
<p:tagLst xmlns:p="http://schemas.openxmlformats.org/presentationml/2006/main">
  <p:tag name="KSO_WM_DIAGRAM_VIRTUALLY_FRAME" val="{&quot;height&quot;:299.2,&quot;left&quot;:495,&quot;top&quot;:142.5,&quot;width&quot;:422.95}"/>
</p:tagLst>
</file>

<file path=ppt/tags/tag66.xml><?xml version="1.0" encoding="utf-8"?>
<p:tagLst xmlns:p="http://schemas.openxmlformats.org/presentationml/2006/main">
  <p:tag name="KSO_WM_DIAGRAM_VIRTUALLY_FRAME" val="{&quot;height&quot;:299.2,&quot;left&quot;:495,&quot;top&quot;:142.5,&quot;width&quot;:422.95}"/>
</p:tagLst>
</file>

<file path=ppt/tags/tag67.xml><?xml version="1.0" encoding="utf-8"?>
<p:tagLst xmlns:p="http://schemas.openxmlformats.org/presentationml/2006/main">
  <p:tag name="KSO_WM_DIAGRAM_VIRTUALLY_FRAME" val="{&quot;height&quot;:72,&quot;left&quot;:42,&quot;top&quot;:138.75,&quot;width&quot;:408}"/>
</p:tagLst>
</file>

<file path=ppt/tags/tag68.xml><?xml version="1.0" encoding="utf-8"?>
<p:tagLst xmlns:p="http://schemas.openxmlformats.org/presentationml/2006/main">
  <p:tag name="KSO_WM_DIAGRAM_VIRTUALLY_FRAME" val="{&quot;height&quot;:72,&quot;left&quot;:42,&quot;top&quot;:138.75,&quot;width&quot;:408}"/>
</p:tagLst>
</file>

<file path=ppt/tags/tag69.xml><?xml version="1.0" encoding="utf-8"?>
<p:tagLst xmlns:p="http://schemas.openxmlformats.org/presentationml/2006/main">
  <p:tag name="KSO_WM_DIAGRAM_VIRTUALLY_FRAME" val="{&quot;height&quot;:72,&quot;left&quot;:42,&quot;top&quot;:138.75,&quot;width&quot;:408}"/>
</p:tagLst>
</file>

<file path=ppt/tags/tag70.xml><?xml version="1.0" encoding="utf-8"?>
<p:tagLst xmlns:p="http://schemas.openxmlformats.org/presentationml/2006/main">
  <p:tag name="KSO_WM_DIAGRAM_VIRTUALLY_FRAME" val="{&quot;height&quot;:72,&quot;left&quot;:42,&quot;top&quot;:138.75,&quot;width&quot;:408}"/>
</p:tagLst>
</file>

<file path=ppt/tags/tag71.xml><?xml version="1.0" encoding="utf-8"?>
<p:tagLst xmlns:p="http://schemas.openxmlformats.org/presentationml/2006/main">
  <p:tag name="KSO_WM_DIAGRAM_VIRTUALLY_FRAME" val="{&quot;height&quot;:72,&quot;left&quot;:42,&quot;top&quot;:138.75,&quot;width&quot;:408}"/>
</p:tagLst>
</file>

<file path=ppt/tags/tag72.xml><?xml version="1.0" encoding="utf-8"?>
<p:tagLst xmlns:p="http://schemas.openxmlformats.org/presentationml/2006/main">
  <p:tag name="KSO_WM_DIAGRAM_VIRTUALLY_FRAME" val="{&quot;height&quot;:72,&quot;left&quot;:42,&quot;top&quot;:138.75,&quot;width&quot;:408}"/>
</p:tagLst>
</file>

<file path=ppt/tags/tag73.xml><?xml version="1.0" encoding="utf-8"?>
<p:tagLst xmlns:p="http://schemas.openxmlformats.org/presentationml/2006/main">
  <p:tag name="KSO_WM_DIAGRAM_VIRTUALLY_FRAME" val="{&quot;height&quot;:72,&quot;left&quot;:42,&quot;top&quot;:138.75,&quot;width&quot;:408}"/>
</p:tagLst>
</file>

<file path=ppt/tags/tag74.xml><?xml version="1.0" encoding="utf-8"?>
<p:tagLst xmlns:p="http://schemas.openxmlformats.org/presentationml/2006/main">
  <p:tag name="KSO_WM_DIAGRAM_VIRTUALLY_FRAME" val="{&quot;height&quot;:72,&quot;left&quot;:42,&quot;top&quot;:138.75,&quot;width&quot;:408}"/>
</p:tagLst>
</file>

<file path=ppt/tags/tag75.xml><?xml version="1.0" encoding="utf-8"?>
<p:tagLst xmlns:p="http://schemas.openxmlformats.org/presentationml/2006/main">
  <p:tag name="KSO_WM_DIAGRAM_VIRTUALLY_FRAME" val="{&quot;height&quot;:72,&quot;left&quot;:42,&quot;top&quot;:138.75,&quot;width&quot;:408}"/>
</p:tagLst>
</file>

<file path=ppt/tags/tag76.xml><?xml version="1.0" encoding="utf-8"?>
<p:tagLst xmlns:p="http://schemas.openxmlformats.org/presentationml/2006/main">
  <p:tag name="KSO_WM_DIAGRAM_VIRTUALLY_FRAME" val="{&quot;height&quot;:72,&quot;left&quot;:42,&quot;top&quot;:138.75,&quot;width&quot;:408}"/>
</p:tagLst>
</file>

<file path=ppt/tags/tag77.xml><?xml version="1.0" encoding="utf-8"?>
<p:tagLst xmlns:p="http://schemas.openxmlformats.org/presentationml/2006/main">
  <p:tag name="KSO_WM_DIAGRAM_VIRTUALLY_FRAME" val="{&quot;height&quot;:72,&quot;left&quot;:42,&quot;top&quot;:138.75,&quot;width&quot;:408}"/>
</p:tagLst>
</file>

<file path=ppt/tags/tag78.xml><?xml version="1.0" encoding="utf-8"?>
<p:tagLst xmlns:p="http://schemas.openxmlformats.org/presentationml/2006/main">
  <p:tag name="KSO_WM_DIAGRAM_VIRTUALLY_FRAME" val="{&quot;height&quot;:72,&quot;left&quot;:42,&quot;top&quot;:138.75,&quot;width&quot;:408}"/>
</p:tagLst>
</file>

<file path=ppt/tags/tag79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80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81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82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83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84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85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86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87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88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89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90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91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92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93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94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95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96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97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98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99.xml><?xml version="1.0" encoding="utf-8"?>
<p:tagLst xmlns:p="http://schemas.openxmlformats.org/presentationml/2006/main">
  <p:tag name="KSO_WM_DIAGRAM_VIRTUALLY_FRAME" val="{&quot;height&quot;:48,&quot;left&quot;:42.8,&quot;top&quot;:132,&quot;width&quot;:876}"/>
</p:tagLst>
</file>

<file path=ppt/tags/tag100.xml><?xml version="1.0" encoding="utf-8"?>
<p:tagLst xmlns:p="http://schemas.openxmlformats.org/presentationml/2006/main">
  <p:tag name="KSO_WM_DIAGRAM_VIRTUALLY_FRAME" val="{&quot;height&quot;:48,&quot;left&quot;:140.81251968503938,&quot;top&quot;:132,&quot;width&quot;:777.1874803149606}"/>
</p:tagLst>
</file>

<file path=ppt/tags/tag101.xml><?xml version="1.0" encoding="utf-8"?>
<p:tagLst xmlns:p="http://schemas.openxmlformats.org/presentationml/2006/main">
  <p:tag name="KSO_WM_DIAGRAM_VIRTUALLY_FRAME" val="{&quot;height&quot;:48,&quot;left&quot;:140.81251968503938,&quot;top&quot;:132,&quot;width&quot;:777.1874803149606}"/>
</p:tagLst>
</file>

<file path=ppt/tags/tag102.xml><?xml version="1.0" encoding="utf-8"?>
<p:tagLst xmlns:p="http://schemas.openxmlformats.org/presentationml/2006/main">
  <p:tag name="KSO_WM_DIAGRAM_VIRTUALLY_FRAME" val="{&quot;height&quot;:388.3,&quot;left&quot;:26.4,&quot;top&quot;:135,&quot;width&quot;:826.5}"/>
</p:tagLst>
</file>

<file path=ppt/tags/tag103.xml><?xml version="1.0" encoding="utf-8"?>
<p:tagLst xmlns:p="http://schemas.openxmlformats.org/presentationml/2006/main">
  <p:tag name="KSO_WM_DIAGRAM_VIRTUALLY_FRAME" val="{&quot;height&quot;:388.3,&quot;left&quot;:26.4,&quot;top&quot;:135,&quot;width&quot;:826.5}"/>
</p:tagLst>
</file>

<file path=ppt/tags/tag104.xml><?xml version="1.0" encoding="utf-8"?>
<p:tagLst xmlns:p="http://schemas.openxmlformats.org/presentationml/2006/main">
  <p:tag name="KSO_WM_DIAGRAM_VIRTUALLY_FRAME" val="{&quot;height&quot;:388.3,&quot;left&quot;:26.4,&quot;top&quot;:135,&quot;width&quot;:826.5}"/>
</p:tagLst>
</file>

<file path=ppt/tags/tag105.xml><?xml version="1.0" encoding="utf-8"?>
<p:tagLst xmlns:p="http://schemas.openxmlformats.org/presentationml/2006/main">
  <p:tag name="KSO_WM_DIAGRAM_VIRTUALLY_FRAME" val="{&quot;height&quot;:388.3,&quot;left&quot;:26.4,&quot;top&quot;:135,&quot;width&quot;:826.5}"/>
</p:tagLst>
</file>

<file path=ppt/tags/tag106.xml><?xml version="1.0" encoding="utf-8"?>
<p:tagLst xmlns:p="http://schemas.openxmlformats.org/presentationml/2006/main">
  <p:tag name="KSO_WM_DIAGRAM_VIRTUALLY_FRAME" val="{&quot;height&quot;:388.3,&quot;left&quot;:26.4,&quot;top&quot;:135,&quot;width&quot;:826.5}"/>
</p:tagLst>
</file>

<file path=ppt/tags/tag107.xml><?xml version="1.0" encoding="utf-8"?>
<p:tagLst xmlns:p="http://schemas.openxmlformats.org/presentationml/2006/main">
  <p:tag name="KSO_WM_DIAGRAM_VIRTUALLY_FRAME" val="{&quot;height&quot;:388.3,&quot;left&quot;:26.4,&quot;top&quot;:135,&quot;width&quot;:826.5}"/>
</p:tagLst>
</file>

<file path=ppt/tags/tag108.xml><?xml version="1.0" encoding="utf-8"?>
<p:tagLst xmlns:p="http://schemas.openxmlformats.org/presentationml/2006/main">
  <p:tag name="KSO_WM_DIAGRAM_VIRTUALLY_FRAME" val="{&quot;height&quot;:388.3,&quot;left&quot;:26.4,&quot;top&quot;:135,&quot;width&quot;:826.5}"/>
</p:tagLst>
</file>

<file path=ppt/tags/tag109.xml><?xml version="1.0" encoding="utf-8"?>
<p:tagLst xmlns:p="http://schemas.openxmlformats.org/presentationml/2006/main">
  <p:tag name="KSO_WM_DIAGRAM_VIRTUALLY_FRAME" val="{&quot;height&quot;:388.3,&quot;left&quot;:26.4,&quot;top&quot;:135,&quot;width&quot;:826.5}"/>
</p:tagLst>
</file>

<file path=ppt/tags/tag110.xml><?xml version="1.0" encoding="utf-8"?>
<p:tagLst xmlns:p="http://schemas.openxmlformats.org/presentationml/2006/main">
  <p:tag name="KSO_WM_DIAGRAM_VIRTUALLY_FRAME" val="{&quot;height&quot;:388.3,&quot;left&quot;:26.4,&quot;top&quot;:135,&quot;width&quot;:826.5}"/>
</p:tagLst>
</file>

<file path=ppt/tags/tag111.xml><?xml version="1.0" encoding="utf-8"?>
<p:tagLst xmlns:p="http://schemas.openxmlformats.org/presentationml/2006/main">
  <p:tag name="KSO_WM_DIAGRAM_VIRTUALLY_FRAME" val="{&quot;height&quot;:388.3,&quot;left&quot;:26.4,&quot;top&quot;:135,&quot;width&quot;:826.5}"/>
</p:tagLst>
</file>

<file path=ppt/tags/tag112.xml><?xml version="1.0" encoding="utf-8"?>
<p:tagLst xmlns:p="http://schemas.openxmlformats.org/presentationml/2006/main">
  <p:tag name="KSO_WM_DIAGRAM_VIRTUALLY_FRAME" val="{&quot;height&quot;:388.3,&quot;left&quot;:26.4,&quot;top&quot;:135,&quot;width&quot;:826.5}"/>
</p:tagLst>
</file>

<file path=ppt/tags/tag113.xml><?xml version="1.0" encoding="utf-8"?>
<p:tagLst xmlns:p="http://schemas.openxmlformats.org/presentationml/2006/main">
  <p:tag name="KSO_WM_DIAGRAM_VIRTUALLY_FRAME" val="{&quot;height&quot;:388.3,&quot;left&quot;:26.4,&quot;top&quot;:135,&quot;width&quot;:826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1891</Words>
  <Application>WPS 演示</Application>
  <PresentationFormat>Converted Presentation</PresentationFormat>
  <Paragraphs>385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微软雅黑</vt:lpstr>
      <vt:lpstr>Arial Unicode MS</vt:lpstr>
      <vt:lpstr>Noto Sans SC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邓先毅</cp:lastModifiedBy>
  <cp:revision>6</cp:revision>
  <dcterms:created xsi:type="dcterms:W3CDTF">2026-07-09T19:29:00Z</dcterms:created>
  <dcterms:modified xsi:type="dcterms:W3CDTF">2026-07-10T01:13:37Z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6B31EDCCA623479598D09966F655A90F_12</vt:lpwstr>
  </property>
  <property fmtid="{D5CDD505-2E9C-101B-9397-08002B2CF9AE}" pid="3" name="KSOProductBuildVer">
    <vt:lpwstr>2052-12.1.0.23542</vt:lpwstr>
  </property>
</Properties>
</file>